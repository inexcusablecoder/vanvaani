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SIH26042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SIH26042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SIH26042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SIH26042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SIH26042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182879"/>
            <a:ext cx="1188720" cy="777240"/>
          </a:xfrm>
          <a:custGeom>
            <a:avLst/>
            <a:gdLst/>
            <a:ahLst/>
            <a:cxnLst/>
            <a:rect l="l" t="t" r="r" b="b"/>
            <a:pathLst>
              <a:path w="1188720" h="777240">
                <a:moveTo>
                  <a:pt x="0" y="388620"/>
                </a:moveTo>
                <a:lnTo>
                  <a:pt x="10717" y="314772"/>
                </a:lnTo>
                <a:lnTo>
                  <a:pt x="41540" y="245603"/>
                </a:lnTo>
                <a:lnTo>
                  <a:pt x="63868" y="213180"/>
                </a:lnTo>
                <a:lnTo>
                  <a:pt x="90476" y="182414"/>
                </a:lnTo>
                <a:lnTo>
                  <a:pt x="121114" y="153470"/>
                </a:lnTo>
                <a:lnTo>
                  <a:pt x="155533" y="126509"/>
                </a:lnTo>
                <a:lnTo>
                  <a:pt x="193485" y="101695"/>
                </a:lnTo>
                <a:lnTo>
                  <a:pt x="234719" y="79190"/>
                </a:lnTo>
                <a:lnTo>
                  <a:pt x="278987" y="59157"/>
                </a:lnTo>
                <a:lnTo>
                  <a:pt x="326040" y="41760"/>
                </a:lnTo>
                <a:lnTo>
                  <a:pt x="375629" y="27160"/>
                </a:lnTo>
                <a:lnTo>
                  <a:pt x="427504" y="15522"/>
                </a:lnTo>
                <a:lnTo>
                  <a:pt x="481417" y="7007"/>
                </a:lnTo>
                <a:lnTo>
                  <a:pt x="537119" y="1778"/>
                </a:lnTo>
                <a:lnTo>
                  <a:pt x="594360" y="0"/>
                </a:lnTo>
                <a:lnTo>
                  <a:pt x="651600" y="1778"/>
                </a:lnTo>
                <a:lnTo>
                  <a:pt x="707302" y="7007"/>
                </a:lnTo>
                <a:lnTo>
                  <a:pt x="761215" y="15522"/>
                </a:lnTo>
                <a:lnTo>
                  <a:pt x="813090" y="27160"/>
                </a:lnTo>
                <a:lnTo>
                  <a:pt x="862679" y="41760"/>
                </a:lnTo>
                <a:lnTo>
                  <a:pt x="909732" y="59157"/>
                </a:lnTo>
                <a:lnTo>
                  <a:pt x="954000" y="79190"/>
                </a:lnTo>
                <a:lnTo>
                  <a:pt x="995234" y="101695"/>
                </a:lnTo>
                <a:lnTo>
                  <a:pt x="1033186" y="126509"/>
                </a:lnTo>
                <a:lnTo>
                  <a:pt x="1067605" y="153470"/>
                </a:lnTo>
                <a:lnTo>
                  <a:pt x="1098243" y="182414"/>
                </a:lnTo>
                <a:lnTo>
                  <a:pt x="1124851" y="213180"/>
                </a:lnTo>
                <a:lnTo>
                  <a:pt x="1147179" y="245603"/>
                </a:lnTo>
                <a:lnTo>
                  <a:pt x="1164979" y="279522"/>
                </a:lnTo>
                <a:lnTo>
                  <a:pt x="1185999" y="351193"/>
                </a:lnTo>
                <a:lnTo>
                  <a:pt x="1188720" y="388620"/>
                </a:lnTo>
                <a:lnTo>
                  <a:pt x="1185999" y="426046"/>
                </a:lnTo>
                <a:lnTo>
                  <a:pt x="1164979" y="497717"/>
                </a:lnTo>
                <a:lnTo>
                  <a:pt x="1147179" y="531636"/>
                </a:lnTo>
                <a:lnTo>
                  <a:pt x="1124851" y="564059"/>
                </a:lnTo>
                <a:lnTo>
                  <a:pt x="1098243" y="594825"/>
                </a:lnTo>
                <a:lnTo>
                  <a:pt x="1067605" y="623769"/>
                </a:lnTo>
                <a:lnTo>
                  <a:pt x="1033186" y="650730"/>
                </a:lnTo>
                <a:lnTo>
                  <a:pt x="995234" y="675544"/>
                </a:lnTo>
                <a:lnTo>
                  <a:pt x="954000" y="698049"/>
                </a:lnTo>
                <a:lnTo>
                  <a:pt x="909732" y="718082"/>
                </a:lnTo>
                <a:lnTo>
                  <a:pt x="862679" y="735479"/>
                </a:lnTo>
                <a:lnTo>
                  <a:pt x="813090" y="750079"/>
                </a:lnTo>
                <a:lnTo>
                  <a:pt x="761215" y="761717"/>
                </a:lnTo>
                <a:lnTo>
                  <a:pt x="707302" y="770232"/>
                </a:lnTo>
                <a:lnTo>
                  <a:pt x="651600" y="775461"/>
                </a:lnTo>
                <a:lnTo>
                  <a:pt x="594360" y="777240"/>
                </a:lnTo>
                <a:lnTo>
                  <a:pt x="537119" y="775461"/>
                </a:lnTo>
                <a:lnTo>
                  <a:pt x="481417" y="770232"/>
                </a:lnTo>
                <a:lnTo>
                  <a:pt x="427504" y="761717"/>
                </a:lnTo>
                <a:lnTo>
                  <a:pt x="375629" y="750079"/>
                </a:lnTo>
                <a:lnTo>
                  <a:pt x="326040" y="735479"/>
                </a:lnTo>
                <a:lnTo>
                  <a:pt x="278987" y="718082"/>
                </a:lnTo>
                <a:lnTo>
                  <a:pt x="234719" y="698049"/>
                </a:lnTo>
                <a:lnTo>
                  <a:pt x="193485" y="675544"/>
                </a:lnTo>
                <a:lnTo>
                  <a:pt x="155533" y="650730"/>
                </a:lnTo>
                <a:lnTo>
                  <a:pt x="121114" y="623769"/>
                </a:lnTo>
                <a:lnTo>
                  <a:pt x="90476" y="594825"/>
                </a:lnTo>
                <a:lnTo>
                  <a:pt x="63868" y="564059"/>
                </a:lnTo>
                <a:lnTo>
                  <a:pt x="41540" y="531636"/>
                </a:lnTo>
                <a:lnTo>
                  <a:pt x="23740" y="497717"/>
                </a:lnTo>
                <a:lnTo>
                  <a:pt x="2720" y="426046"/>
                </a:lnTo>
                <a:lnTo>
                  <a:pt x="0" y="388620"/>
                </a:lnTo>
                <a:close/>
              </a:path>
            </a:pathLst>
          </a:custGeom>
          <a:ln w="1905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2201" y="182371"/>
            <a:ext cx="4432934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9100" y="1261872"/>
            <a:ext cx="5608320" cy="3947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061330" y="6592316"/>
            <a:ext cx="206565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SIH26042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56973" y="6592316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1620" y="161036"/>
            <a:ext cx="647763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20" dirty="0">
                <a:solidFill>
                  <a:srgbClr val="1F3863"/>
                </a:solidFill>
              </a:rPr>
              <a:t>SMART</a:t>
            </a:r>
            <a:r>
              <a:rPr sz="3400" spc="-120" dirty="0">
                <a:solidFill>
                  <a:srgbClr val="1F3863"/>
                </a:solidFill>
              </a:rPr>
              <a:t> </a:t>
            </a:r>
            <a:r>
              <a:rPr sz="3400" dirty="0">
                <a:solidFill>
                  <a:srgbClr val="1F3863"/>
                </a:solidFill>
              </a:rPr>
              <a:t>INDIA</a:t>
            </a:r>
            <a:r>
              <a:rPr sz="3400" spc="-135" dirty="0">
                <a:solidFill>
                  <a:srgbClr val="1F3863"/>
                </a:solidFill>
              </a:rPr>
              <a:t> </a:t>
            </a:r>
            <a:r>
              <a:rPr sz="3400" spc="-40" dirty="0">
                <a:solidFill>
                  <a:srgbClr val="1F3863"/>
                </a:solidFill>
              </a:rPr>
              <a:t>HACKATHON</a:t>
            </a:r>
            <a:r>
              <a:rPr sz="3400" spc="-120" dirty="0">
                <a:solidFill>
                  <a:srgbClr val="1F3863"/>
                </a:solidFill>
              </a:rPr>
              <a:t> </a:t>
            </a:r>
            <a:r>
              <a:rPr sz="3400" spc="-20" dirty="0">
                <a:solidFill>
                  <a:srgbClr val="1F3863"/>
                </a:solidFill>
              </a:rPr>
              <a:t>2026</a:t>
            </a:r>
            <a:endParaRPr sz="3400"/>
          </a:p>
        </p:txBody>
      </p:sp>
      <p:pic>
        <p:nvPicPr>
          <p:cNvPr id="3" name="object 3" descr="/home/claude/sih_ppt/image2_sma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43471" y="132661"/>
            <a:ext cx="2953414" cy="13805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39054" y="982726"/>
            <a:ext cx="1796414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Cambria"/>
                <a:cs typeface="Cambria"/>
              </a:rPr>
              <a:t>TITLE</a:t>
            </a:r>
            <a:r>
              <a:rPr sz="2600" b="1" spc="-10" dirty="0">
                <a:latin typeface="Cambria"/>
                <a:cs typeface="Cambria"/>
              </a:rPr>
              <a:t> </a:t>
            </a:r>
            <a:r>
              <a:rPr sz="2600" b="1" spc="-65" dirty="0">
                <a:latin typeface="Cambria"/>
                <a:cs typeface="Cambria"/>
              </a:rPr>
              <a:t>PAGE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1941398"/>
            <a:ext cx="7832725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Calibri"/>
              <a:buChar char="•"/>
              <a:tabLst>
                <a:tab pos="354965" algn="l"/>
              </a:tabLst>
            </a:pPr>
            <a:r>
              <a:rPr sz="1500" b="1" dirty="0">
                <a:latin typeface="Calibri"/>
                <a:cs typeface="Calibri"/>
              </a:rPr>
              <a:t>Problem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Statement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ID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–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21F1F"/>
                </a:solidFill>
                <a:latin typeface="Calibri"/>
                <a:cs typeface="Calibri"/>
              </a:rPr>
              <a:t>SIH26042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Calibri"/>
              <a:buChar char="•"/>
            </a:pPr>
            <a:endParaRPr sz="15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Calibri"/>
              <a:buChar char="•"/>
              <a:tabLst>
                <a:tab pos="355600" algn="l"/>
              </a:tabLst>
            </a:pPr>
            <a:r>
              <a:rPr sz="1500" b="1" dirty="0">
                <a:latin typeface="Calibri"/>
                <a:cs typeface="Calibri"/>
              </a:rPr>
              <a:t>Problem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Statement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Title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–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21F1F"/>
                </a:solidFill>
                <a:latin typeface="Calibri"/>
                <a:cs typeface="Calibri"/>
              </a:rPr>
              <a:t>AI-Powered</a:t>
            </a:r>
            <a:r>
              <a:rPr sz="1500" b="1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21F1F"/>
                </a:solidFill>
                <a:latin typeface="Calibri"/>
                <a:cs typeface="Calibri"/>
              </a:rPr>
              <a:t>Vernacular</a:t>
            </a:r>
            <a:r>
              <a:rPr sz="1500" b="1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21F1F"/>
                </a:solidFill>
                <a:latin typeface="Calibri"/>
                <a:cs typeface="Calibri"/>
              </a:rPr>
              <a:t>Pedagogy</a:t>
            </a:r>
            <a:r>
              <a:rPr sz="1500" b="1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sz="1500" b="1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21F1F"/>
                </a:solidFill>
                <a:latin typeface="Calibri"/>
                <a:cs typeface="Calibri"/>
              </a:rPr>
              <a:t>Real-</a:t>
            </a:r>
            <a:r>
              <a:rPr sz="1500" b="1" dirty="0">
                <a:solidFill>
                  <a:srgbClr val="221F1F"/>
                </a:solidFill>
                <a:latin typeface="Calibri"/>
                <a:cs typeface="Calibri"/>
              </a:rPr>
              <a:t>Time</a:t>
            </a:r>
            <a:r>
              <a:rPr sz="1500" b="1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21F1F"/>
                </a:solidFill>
                <a:latin typeface="Calibri"/>
                <a:cs typeface="Calibri"/>
              </a:rPr>
              <a:t>Translation</a:t>
            </a:r>
            <a:r>
              <a:rPr sz="1500" b="1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221F1F"/>
                </a:solidFill>
                <a:latin typeface="Calibri"/>
                <a:cs typeface="Calibri"/>
              </a:rPr>
              <a:t>Tool</a:t>
            </a:r>
            <a:r>
              <a:rPr sz="1500" b="1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221F1F"/>
                </a:solidFill>
                <a:latin typeface="Calibri"/>
                <a:cs typeface="Calibri"/>
              </a:rPr>
              <a:t>for </a:t>
            </a:r>
            <a:r>
              <a:rPr sz="1500" b="1" dirty="0">
                <a:solidFill>
                  <a:srgbClr val="221F1F"/>
                </a:solidFill>
                <a:latin typeface="Calibri"/>
                <a:cs typeface="Calibri"/>
              </a:rPr>
              <a:t>Mother</a:t>
            </a:r>
            <a:r>
              <a:rPr sz="1500" b="1" spc="-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500" b="1" spc="-30" dirty="0">
                <a:solidFill>
                  <a:srgbClr val="221F1F"/>
                </a:solidFill>
                <a:latin typeface="Calibri"/>
                <a:cs typeface="Calibri"/>
              </a:rPr>
              <a:t>Tongue-</a:t>
            </a:r>
            <a:r>
              <a:rPr sz="1500" b="1" dirty="0">
                <a:solidFill>
                  <a:srgbClr val="221F1F"/>
                </a:solidFill>
                <a:latin typeface="Calibri"/>
                <a:cs typeface="Calibri"/>
              </a:rPr>
              <a:t>Based</a:t>
            </a:r>
            <a:r>
              <a:rPr sz="1500" b="1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21F1F"/>
                </a:solidFill>
                <a:latin typeface="Calibri"/>
                <a:cs typeface="Calibri"/>
              </a:rPr>
              <a:t>Primary</a:t>
            </a:r>
            <a:r>
              <a:rPr sz="1500" b="1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21F1F"/>
                </a:solidFill>
                <a:latin typeface="Calibri"/>
                <a:cs typeface="Calibri"/>
              </a:rPr>
              <a:t>Education</a:t>
            </a:r>
            <a:endParaRPr sz="1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800"/>
              </a:spcBef>
              <a:buFont typeface="Calibri"/>
              <a:buChar char="•"/>
              <a:tabLst>
                <a:tab pos="354965" algn="l"/>
              </a:tabLst>
            </a:pPr>
            <a:r>
              <a:rPr sz="1500" b="1" dirty="0">
                <a:latin typeface="Calibri"/>
                <a:cs typeface="Calibri"/>
              </a:rPr>
              <a:t>Theme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–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21F1F"/>
                </a:solidFill>
                <a:latin typeface="Calibri"/>
                <a:cs typeface="Calibri"/>
              </a:rPr>
              <a:t>Smart</a:t>
            </a:r>
            <a:r>
              <a:rPr sz="1500" b="1" spc="-10" dirty="0">
                <a:solidFill>
                  <a:srgbClr val="221F1F"/>
                </a:solidFill>
                <a:latin typeface="Calibri"/>
                <a:cs typeface="Calibri"/>
              </a:rPr>
              <a:t> Education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Calibri"/>
              <a:buChar char="•"/>
            </a:pPr>
            <a:endParaRPr sz="1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Calibri"/>
              <a:buChar char="•"/>
              <a:tabLst>
                <a:tab pos="354965" algn="l"/>
              </a:tabLst>
            </a:pPr>
            <a:r>
              <a:rPr sz="1500" b="1" dirty="0">
                <a:latin typeface="Calibri"/>
                <a:cs typeface="Calibri"/>
              </a:rPr>
              <a:t>PS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Category</a:t>
            </a:r>
            <a:r>
              <a:rPr sz="1500" b="1" spc="-1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–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21F1F"/>
                </a:solidFill>
                <a:latin typeface="Calibri"/>
                <a:cs typeface="Calibri"/>
              </a:rPr>
              <a:t>Software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Calibri"/>
              <a:buChar char="•"/>
            </a:pPr>
            <a:endParaRPr sz="1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Calibri"/>
              <a:buChar char="•"/>
              <a:tabLst>
                <a:tab pos="354965" algn="l"/>
              </a:tabLst>
            </a:pPr>
            <a:r>
              <a:rPr sz="1500" b="1" spc="-35" dirty="0">
                <a:latin typeface="Calibri"/>
                <a:cs typeface="Calibri"/>
              </a:rPr>
              <a:t>Team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ID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b="1" spc="-50" dirty="0">
                <a:latin typeface="Calibri"/>
                <a:cs typeface="Calibri"/>
              </a:rPr>
              <a:t>–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Calibri"/>
              <a:buChar char="•"/>
            </a:pPr>
            <a:endParaRPr sz="1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Calibri"/>
              <a:buChar char="•"/>
              <a:tabLst>
                <a:tab pos="354965" algn="l"/>
              </a:tabLst>
            </a:pPr>
            <a:r>
              <a:rPr sz="1500" b="1" spc="-35" dirty="0">
                <a:latin typeface="Calibri"/>
                <a:cs typeface="Calibri"/>
              </a:rPr>
              <a:t>Team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Name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(Registered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on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portal)</a:t>
            </a:r>
            <a:r>
              <a:rPr sz="1500" b="1" spc="-1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–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21F1F"/>
                </a:solidFill>
                <a:latin typeface="Calibri"/>
                <a:cs typeface="Calibri"/>
              </a:rPr>
              <a:t>Loading…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473952"/>
            <a:ext cx="12189460" cy="384175"/>
          </a:xfrm>
          <a:custGeom>
            <a:avLst/>
            <a:gdLst/>
            <a:ahLst/>
            <a:cxnLst/>
            <a:rect l="l" t="t" r="r" b="b"/>
            <a:pathLst>
              <a:path w="12189460" h="384175">
                <a:moveTo>
                  <a:pt x="12188952" y="0"/>
                </a:moveTo>
                <a:lnTo>
                  <a:pt x="0" y="0"/>
                </a:lnTo>
                <a:lnTo>
                  <a:pt x="0" y="384048"/>
                </a:lnTo>
                <a:lnTo>
                  <a:pt x="12188952" y="384048"/>
                </a:lnTo>
                <a:lnTo>
                  <a:pt x="12188952" y="0"/>
                </a:lnTo>
                <a:close/>
              </a:path>
            </a:pathLst>
          </a:custGeom>
          <a:solidFill>
            <a:srgbClr val="1773B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458839" y="869441"/>
            <a:ext cx="4638675" cy="5155565"/>
            <a:chOff x="6458839" y="869441"/>
            <a:chExt cx="4638675" cy="5155565"/>
          </a:xfrm>
        </p:grpSpPr>
        <p:sp>
          <p:nvSpPr>
            <p:cNvPr id="8" name="object 8"/>
            <p:cNvSpPr/>
            <p:nvPr/>
          </p:nvSpPr>
          <p:spPr>
            <a:xfrm>
              <a:off x="6458839" y="869441"/>
              <a:ext cx="4638675" cy="5155565"/>
            </a:xfrm>
            <a:custGeom>
              <a:avLst/>
              <a:gdLst/>
              <a:ahLst/>
              <a:cxnLst/>
              <a:rect l="l" t="t" r="r" b="b"/>
              <a:pathLst>
                <a:path w="4638675" h="5155565">
                  <a:moveTo>
                    <a:pt x="946150" y="3682492"/>
                  </a:moveTo>
                  <a:lnTo>
                    <a:pt x="936371" y="3635375"/>
                  </a:lnTo>
                  <a:lnTo>
                    <a:pt x="724154" y="3153410"/>
                  </a:lnTo>
                  <a:lnTo>
                    <a:pt x="673735" y="3125216"/>
                  </a:lnTo>
                  <a:lnTo>
                    <a:pt x="272415" y="3125216"/>
                  </a:lnTo>
                  <a:lnTo>
                    <a:pt x="236347" y="3138170"/>
                  </a:lnTo>
                  <a:lnTo>
                    <a:pt x="210058" y="3173603"/>
                  </a:lnTo>
                  <a:lnTo>
                    <a:pt x="2540" y="3658235"/>
                  </a:lnTo>
                  <a:lnTo>
                    <a:pt x="0" y="3682492"/>
                  </a:lnTo>
                  <a:lnTo>
                    <a:pt x="9779" y="3729736"/>
                  </a:lnTo>
                  <a:lnTo>
                    <a:pt x="221615" y="4211701"/>
                  </a:lnTo>
                  <a:lnTo>
                    <a:pt x="253492" y="4236466"/>
                  </a:lnTo>
                  <a:lnTo>
                    <a:pt x="272415" y="4239895"/>
                  </a:lnTo>
                  <a:lnTo>
                    <a:pt x="673735" y="4239895"/>
                  </a:lnTo>
                  <a:lnTo>
                    <a:pt x="709422" y="4226941"/>
                  </a:lnTo>
                  <a:lnTo>
                    <a:pt x="735330" y="4191508"/>
                  </a:lnTo>
                  <a:lnTo>
                    <a:pt x="943737" y="3706876"/>
                  </a:lnTo>
                  <a:lnTo>
                    <a:pt x="946150" y="3682492"/>
                  </a:lnTo>
                  <a:close/>
                </a:path>
                <a:path w="4638675" h="5155565">
                  <a:moveTo>
                    <a:pt x="2248154" y="953516"/>
                  </a:moveTo>
                  <a:lnTo>
                    <a:pt x="2244471" y="916178"/>
                  </a:lnTo>
                  <a:lnTo>
                    <a:pt x="2233295" y="881126"/>
                  </a:lnTo>
                  <a:lnTo>
                    <a:pt x="2097786" y="570103"/>
                  </a:lnTo>
                  <a:lnTo>
                    <a:pt x="1867408" y="570103"/>
                  </a:lnTo>
                  <a:lnTo>
                    <a:pt x="1822196" y="574675"/>
                  </a:lnTo>
                  <a:lnTo>
                    <a:pt x="1779016" y="588010"/>
                  </a:lnTo>
                  <a:lnTo>
                    <a:pt x="1738249" y="609600"/>
                  </a:lnTo>
                  <a:lnTo>
                    <a:pt x="1700403" y="639064"/>
                  </a:lnTo>
                  <a:lnTo>
                    <a:pt x="1666240" y="675767"/>
                  </a:lnTo>
                  <a:lnTo>
                    <a:pt x="1636141" y="719201"/>
                  </a:lnTo>
                  <a:lnTo>
                    <a:pt x="1610614" y="768985"/>
                  </a:lnTo>
                  <a:lnTo>
                    <a:pt x="1167638" y="1790700"/>
                  </a:lnTo>
                  <a:lnTo>
                    <a:pt x="1187450" y="1801876"/>
                  </a:lnTo>
                  <a:lnTo>
                    <a:pt x="1194562" y="1804035"/>
                  </a:lnTo>
                  <a:lnTo>
                    <a:pt x="1201674" y="1805686"/>
                  </a:lnTo>
                  <a:lnTo>
                    <a:pt x="1209040" y="1806702"/>
                  </a:lnTo>
                  <a:lnTo>
                    <a:pt x="1216406" y="1806956"/>
                  </a:lnTo>
                  <a:lnTo>
                    <a:pt x="1831086" y="1806956"/>
                  </a:lnTo>
                  <a:lnTo>
                    <a:pt x="1885569" y="1787144"/>
                  </a:lnTo>
                  <a:lnTo>
                    <a:pt x="1925320" y="1732915"/>
                  </a:lnTo>
                  <a:lnTo>
                    <a:pt x="2244471" y="990727"/>
                  </a:lnTo>
                  <a:lnTo>
                    <a:pt x="2248154" y="953516"/>
                  </a:lnTo>
                  <a:close/>
                </a:path>
                <a:path w="4638675" h="5155565">
                  <a:moveTo>
                    <a:pt x="4638675" y="2862580"/>
                  </a:moveTo>
                  <a:lnTo>
                    <a:pt x="4636135" y="2812034"/>
                  </a:lnTo>
                  <a:lnTo>
                    <a:pt x="4628642" y="2762377"/>
                  </a:lnTo>
                  <a:lnTo>
                    <a:pt x="4616069" y="2714244"/>
                  </a:lnTo>
                  <a:lnTo>
                    <a:pt x="4598543" y="2668397"/>
                  </a:lnTo>
                  <a:lnTo>
                    <a:pt x="4271010" y="1916176"/>
                  </a:lnTo>
                  <a:lnTo>
                    <a:pt x="3771392" y="768985"/>
                  </a:lnTo>
                  <a:lnTo>
                    <a:pt x="3747008" y="719201"/>
                  </a:lnTo>
                  <a:lnTo>
                    <a:pt x="3717417" y="675767"/>
                  </a:lnTo>
                  <a:lnTo>
                    <a:pt x="3683254" y="639064"/>
                  </a:lnTo>
                  <a:lnTo>
                    <a:pt x="3645535" y="609600"/>
                  </a:lnTo>
                  <a:lnTo>
                    <a:pt x="3604895" y="588010"/>
                  </a:lnTo>
                  <a:lnTo>
                    <a:pt x="3562096" y="574675"/>
                  </a:lnTo>
                  <a:lnTo>
                    <a:pt x="3518154" y="570103"/>
                  </a:lnTo>
                  <a:lnTo>
                    <a:pt x="2192655" y="570103"/>
                  </a:lnTo>
                  <a:lnTo>
                    <a:pt x="2324100" y="871982"/>
                  </a:lnTo>
                  <a:lnTo>
                    <a:pt x="2336673" y="911352"/>
                  </a:lnTo>
                  <a:lnTo>
                    <a:pt x="2340864" y="953516"/>
                  </a:lnTo>
                  <a:lnTo>
                    <a:pt x="2336673" y="995553"/>
                  </a:lnTo>
                  <a:lnTo>
                    <a:pt x="2324100" y="1035050"/>
                  </a:lnTo>
                  <a:lnTo>
                    <a:pt x="1976628" y="1832737"/>
                  </a:lnTo>
                  <a:lnTo>
                    <a:pt x="1931924" y="1893824"/>
                  </a:lnTo>
                  <a:lnTo>
                    <a:pt x="1902333" y="1910461"/>
                  </a:lnTo>
                  <a:lnTo>
                    <a:pt x="1870329" y="1916176"/>
                  </a:lnTo>
                  <a:lnTo>
                    <a:pt x="1177036" y="1916176"/>
                  </a:lnTo>
                  <a:lnTo>
                    <a:pt x="1160526" y="1914779"/>
                  </a:lnTo>
                  <a:lnTo>
                    <a:pt x="1125093" y="1899666"/>
                  </a:lnTo>
                  <a:lnTo>
                    <a:pt x="1168781" y="1799082"/>
                  </a:lnTo>
                  <a:lnTo>
                    <a:pt x="1152271" y="1785874"/>
                  </a:lnTo>
                  <a:lnTo>
                    <a:pt x="1123823" y="1742313"/>
                  </a:lnTo>
                  <a:lnTo>
                    <a:pt x="805942" y="1000125"/>
                  </a:lnTo>
                  <a:lnTo>
                    <a:pt x="802132" y="962787"/>
                  </a:lnTo>
                  <a:lnTo>
                    <a:pt x="817118" y="890524"/>
                  </a:lnTo>
                  <a:lnTo>
                    <a:pt x="1141476" y="152400"/>
                  </a:lnTo>
                  <a:lnTo>
                    <a:pt x="1190371" y="114427"/>
                  </a:lnTo>
                  <a:lnTo>
                    <a:pt x="1219327" y="109347"/>
                  </a:lnTo>
                  <a:lnTo>
                    <a:pt x="1834007" y="109347"/>
                  </a:lnTo>
                  <a:lnTo>
                    <a:pt x="1888617" y="129159"/>
                  </a:lnTo>
                  <a:lnTo>
                    <a:pt x="1928241" y="183388"/>
                  </a:lnTo>
                  <a:lnTo>
                    <a:pt x="2092198" y="559816"/>
                  </a:lnTo>
                  <a:lnTo>
                    <a:pt x="2187067" y="559816"/>
                  </a:lnTo>
                  <a:lnTo>
                    <a:pt x="1990852" y="109347"/>
                  </a:lnTo>
                  <a:lnTo>
                    <a:pt x="1979676" y="83566"/>
                  </a:lnTo>
                  <a:lnTo>
                    <a:pt x="1934845" y="22479"/>
                  </a:lnTo>
                  <a:lnTo>
                    <a:pt x="1873250" y="0"/>
                  </a:lnTo>
                  <a:lnTo>
                    <a:pt x="1179957" y="0"/>
                  </a:lnTo>
                  <a:lnTo>
                    <a:pt x="1092200" y="48768"/>
                  </a:lnTo>
                  <a:lnTo>
                    <a:pt x="1072261" y="83566"/>
                  </a:lnTo>
                  <a:lnTo>
                    <a:pt x="726313" y="881126"/>
                  </a:lnTo>
                  <a:lnTo>
                    <a:pt x="713613" y="920750"/>
                  </a:lnTo>
                  <a:lnTo>
                    <a:pt x="709422" y="962787"/>
                  </a:lnTo>
                  <a:lnTo>
                    <a:pt x="713613" y="1004951"/>
                  </a:lnTo>
                  <a:lnTo>
                    <a:pt x="726313" y="1044321"/>
                  </a:lnTo>
                  <a:lnTo>
                    <a:pt x="1081405" y="1860423"/>
                  </a:lnTo>
                  <a:lnTo>
                    <a:pt x="1117727" y="1903222"/>
                  </a:lnTo>
                  <a:lnTo>
                    <a:pt x="1118616" y="1903730"/>
                  </a:lnTo>
                  <a:lnTo>
                    <a:pt x="787019" y="2668397"/>
                  </a:lnTo>
                  <a:lnTo>
                    <a:pt x="769493" y="2714244"/>
                  </a:lnTo>
                  <a:lnTo>
                    <a:pt x="756920" y="2762377"/>
                  </a:lnTo>
                  <a:lnTo>
                    <a:pt x="749427" y="2812034"/>
                  </a:lnTo>
                  <a:lnTo>
                    <a:pt x="746887" y="2862580"/>
                  </a:lnTo>
                  <a:lnTo>
                    <a:pt x="749427" y="2912999"/>
                  </a:lnTo>
                  <a:lnTo>
                    <a:pt x="756920" y="2962783"/>
                  </a:lnTo>
                  <a:lnTo>
                    <a:pt x="769493" y="3010916"/>
                  </a:lnTo>
                  <a:lnTo>
                    <a:pt x="787019" y="3056763"/>
                  </a:lnTo>
                  <a:lnTo>
                    <a:pt x="1610614" y="4956099"/>
                  </a:lnTo>
                  <a:lnTo>
                    <a:pt x="1636141" y="5005895"/>
                  </a:lnTo>
                  <a:lnTo>
                    <a:pt x="1666240" y="5049393"/>
                  </a:lnTo>
                  <a:lnTo>
                    <a:pt x="1700403" y="5086096"/>
                  </a:lnTo>
                  <a:lnTo>
                    <a:pt x="1738249" y="5115509"/>
                  </a:lnTo>
                  <a:lnTo>
                    <a:pt x="1779016" y="5137137"/>
                  </a:lnTo>
                  <a:lnTo>
                    <a:pt x="1822196" y="5150472"/>
                  </a:lnTo>
                  <a:lnTo>
                    <a:pt x="1867408" y="5155031"/>
                  </a:lnTo>
                  <a:lnTo>
                    <a:pt x="3518154" y="5155031"/>
                  </a:lnTo>
                  <a:lnTo>
                    <a:pt x="3562096" y="5150472"/>
                  </a:lnTo>
                  <a:lnTo>
                    <a:pt x="3604895" y="5137137"/>
                  </a:lnTo>
                  <a:lnTo>
                    <a:pt x="3645535" y="5115509"/>
                  </a:lnTo>
                  <a:lnTo>
                    <a:pt x="3683254" y="5086096"/>
                  </a:lnTo>
                  <a:lnTo>
                    <a:pt x="3717417" y="5049393"/>
                  </a:lnTo>
                  <a:lnTo>
                    <a:pt x="3747008" y="5005895"/>
                  </a:lnTo>
                  <a:lnTo>
                    <a:pt x="3771392" y="4956099"/>
                  </a:lnTo>
                  <a:lnTo>
                    <a:pt x="4598543" y="3056763"/>
                  </a:lnTo>
                  <a:lnTo>
                    <a:pt x="4616069" y="3010916"/>
                  </a:lnTo>
                  <a:lnTo>
                    <a:pt x="4628642" y="2962783"/>
                  </a:lnTo>
                  <a:lnTo>
                    <a:pt x="4636135" y="2912999"/>
                  </a:lnTo>
                  <a:lnTo>
                    <a:pt x="4638675" y="2862580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56957" y="1733930"/>
              <a:ext cx="3203448" cy="3426205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SIH26042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153" y="424687"/>
            <a:ext cx="811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221F1F"/>
                </a:solidFill>
                <a:latin typeface="Calibri"/>
                <a:cs typeface="Calibri"/>
              </a:rPr>
              <a:t>Loading…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7470">
              <a:lnSpc>
                <a:spcPct val="100000"/>
              </a:lnSpc>
              <a:spcBef>
                <a:spcPts val="100"/>
              </a:spcBef>
            </a:pPr>
            <a:r>
              <a:rPr dirty="0"/>
              <a:t>IDEA</a:t>
            </a:r>
            <a:r>
              <a:rPr spc="-85" dirty="0"/>
              <a:t> </a:t>
            </a:r>
            <a:r>
              <a:rPr spc="-10" dirty="0"/>
              <a:t>TITLE</a:t>
            </a:r>
          </a:p>
        </p:txBody>
      </p:sp>
      <p:pic>
        <p:nvPicPr>
          <p:cNvPr id="4" name="object 4" descr="/home/claude/sih_ppt/image2_sma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2596" y="123987"/>
            <a:ext cx="1834697" cy="8584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4500" y="1026921"/>
            <a:ext cx="11243310" cy="531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0" dirty="0">
                <a:solidFill>
                  <a:srgbClr val="79312F"/>
                </a:solidFill>
                <a:latin typeface="Cambria"/>
                <a:cs typeface="Cambria"/>
              </a:rPr>
              <a:t>Curriculum-</a:t>
            </a:r>
            <a:r>
              <a:rPr sz="1800" b="1" i="1" dirty="0">
                <a:solidFill>
                  <a:srgbClr val="79312F"/>
                </a:solidFill>
                <a:latin typeface="Cambria"/>
                <a:cs typeface="Cambria"/>
              </a:rPr>
              <a:t>Synced</a:t>
            </a:r>
            <a:r>
              <a:rPr sz="1800" b="1" i="1" spc="-50" dirty="0">
                <a:solidFill>
                  <a:srgbClr val="79312F"/>
                </a:solidFill>
                <a:latin typeface="Cambria"/>
                <a:cs typeface="Cambria"/>
              </a:rPr>
              <a:t> </a:t>
            </a:r>
            <a:r>
              <a:rPr sz="1800" b="1" i="1" spc="-10" dirty="0">
                <a:solidFill>
                  <a:srgbClr val="79312F"/>
                </a:solidFill>
                <a:latin typeface="Cambria"/>
                <a:cs typeface="Cambria"/>
              </a:rPr>
              <a:t>Classroom</a:t>
            </a:r>
            <a:r>
              <a:rPr sz="1800" b="1" i="1" spc="-25" dirty="0">
                <a:solidFill>
                  <a:srgbClr val="79312F"/>
                </a:solidFill>
                <a:latin typeface="Cambria"/>
                <a:cs typeface="Cambria"/>
              </a:rPr>
              <a:t> </a:t>
            </a:r>
            <a:r>
              <a:rPr sz="1800" b="1" i="1" spc="-10" dirty="0">
                <a:solidFill>
                  <a:srgbClr val="79312F"/>
                </a:solidFill>
                <a:latin typeface="Cambria"/>
                <a:cs typeface="Cambria"/>
              </a:rPr>
              <a:t>Translation</a:t>
            </a:r>
            <a:r>
              <a:rPr sz="1800" b="1" i="1" spc="-30" dirty="0">
                <a:solidFill>
                  <a:srgbClr val="79312F"/>
                </a:solidFill>
                <a:latin typeface="Cambria"/>
                <a:cs typeface="Cambria"/>
              </a:rPr>
              <a:t> </a:t>
            </a:r>
            <a:r>
              <a:rPr sz="1800" b="1" i="1" spc="-10" dirty="0">
                <a:solidFill>
                  <a:srgbClr val="79312F"/>
                </a:solidFill>
                <a:latin typeface="Cambria"/>
                <a:cs typeface="Cambria"/>
              </a:rPr>
              <a:t>Companion</a:t>
            </a:r>
            <a:r>
              <a:rPr sz="1800" b="1" i="1" spc="-55" dirty="0">
                <a:solidFill>
                  <a:srgbClr val="79312F"/>
                </a:solidFill>
                <a:latin typeface="Cambria"/>
                <a:cs typeface="Cambria"/>
              </a:rPr>
              <a:t> </a:t>
            </a:r>
            <a:r>
              <a:rPr sz="1800" b="1" i="1" dirty="0">
                <a:solidFill>
                  <a:srgbClr val="79312F"/>
                </a:solidFill>
                <a:latin typeface="Cambria"/>
                <a:cs typeface="Cambria"/>
              </a:rPr>
              <a:t>for</a:t>
            </a:r>
            <a:r>
              <a:rPr sz="1800" b="1" i="1" spc="-30" dirty="0">
                <a:solidFill>
                  <a:srgbClr val="79312F"/>
                </a:solidFill>
                <a:latin typeface="Cambria"/>
                <a:cs typeface="Cambria"/>
              </a:rPr>
              <a:t> </a:t>
            </a:r>
            <a:r>
              <a:rPr sz="1800" b="1" i="1" dirty="0">
                <a:solidFill>
                  <a:srgbClr val="79312F"/>
                </a:solidFill>
                <a:latin typeface="Cambria"/>
                <a:cs typeface="Cambria"/>
              </a:rPr>
              <a:t>Ho,</a:t>
            </a:r>
            <a:r>
              <a:rPr sz="1800" b="1" i="1" spc="-55" dirty="0">
                <a:solidFill>
                  <a:srgbClr val="79312F"/>
                </a:solidFill>
                <a:latin typeface="Cambria"/>
                <a:cs typeface="Cambria"/>
              </a:rPr>
              <a:t> </a:t>
            </a:r>
            <a:r>
              <a:rPr sz="1800" b="1" i="1" dirty="0">
                <a:solidFill>
                  <a:srgbClr val="79312F"/>
                </a:solidFill>
                <a:latin typeface="Cambria"/>
                <a:cs typeface="Cambria"/>
              </a:rPr>
              <a:t>Mundari</a:t>
            </a:r>
            <a:r>
              <a:rPr sz="1800" b="1" i="1" spc="-40" dirty="0">
                <a:solidFill>
                  <a:srgbClr val="79312F"/>
                </a:solidFill>
                <a:latin typeface="Cambria"/>
                <a:cs typeface="Cambria"/>
              </a:rPr>
              <a:t> </a:t>
            </a:r>
            <a:r>
              <a:rPr sz="1800" b="1" i="1" dirty="0">
                <a:solidFill>
                  <a:srgbClr val="79312F"/>
                </a:solidFill>
                <a:latin typeface="Cambria"/>
                <a:cs typeface="Cambria"/>
              </a:rPr>
              <a:t>&amp;</a:t>
            </a:r>
            <a:r>
              <a:rPr sz="1800" b="1" i="1" spc="-15" dirty="0">
                <a:solidFill>
                  <a:srgbClr val="79312F"/>
                </a:solidFill>
                <a:latin typeface="Cambria"/>
                <a:cs typeface="Cambria"/>
              </a:rPr>
              <a:t> </a:t>
            </a:r>
            <a:r>
              <a:rPr sz="1800" b="1" i="1" dirty="0">
                <a:solidFill>
                  <a:srgbClr val="79312F"/>
                </a:solidFill>
                <a:latin typeface="Cambria"/>
                <a:cs typeface="Cambria"/>
              </a:rPr>
              <a:t>Santhali</a:t>
            </a:r>
            <a:r>
              <a:rPr sz="1800" b="1" i="1" spc="-45" dirty="0">
                <a:solidFill>
                  <a:srgbClr val="79312F"/>
                </a:solidFill>
                <a:latin typeface="Cambria"/>
                <a:cs typeface="Cambria"/>
              </a:rPr>
              <a:t> </a:t>
            </a:r>
            <a:r>
              <a:rPr sz="1800" b="1" i="1" dirty="0">
                <a:solidFill>
                  <a:srgbClr val="79312F"/>
                </a:solidFill>
                <a:latin typeface="Cambria"/>
                <a:cs typeface="Cambria"/>
              </a:rPr>
              <a:t>Linguistic</a:t>
            </a:r>
            <a:r>
              <a:rPr sz="1800" b="1" i="1" spc="-35" dirty="0">
                <a:solidFill>
                  <a:srgbClr val="79312F"/>
                </a:solidFill>
                <a:latin typeface="Cambria"/>
                <a:cs typeface="Cambria"/>
              </a:rPr>
              <a:t> </a:t>
            </a:r>
            <a:r>
              <a:rPr sz="1800" b="1" i="1" spc="-10" dirty="0">
                <a:solidFill>
                  <a:srgbClr val="79312F"/>
                </a:solidFill>
                <a:latin typeface="Cambria"/>
                <a:cs typeface="Cambria"/>
              </a:rPr>
              <a:t>Tribes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1500" b="1" u="sng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THE</a:t>
            </a:r>
            <a:r>
              <a:rPr sz="1500" b="1" u="sng" spc="-1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 PROBLEM</a:t>
            </a:r>
            <a:endParaRPr sz="1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30"/>
              </a:spcBef>
              <a:buChar char="•"/>
              <a:tabLst>
                <a:tab pos="354965" algn="l"/>
              </a:tabLst>
            </a:pP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Only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23%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Grade-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1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children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in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Jharkhand's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tribal-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area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schools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understand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Hindi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(PALASH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language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mapping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survey,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2024)</a:t>
            </a:r>
            <a:r>
              <a:rPr sz="1400" spc="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most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speak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Ho,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Mundari</a:t>
            </a:r>
            <a:endParaRPr sz="1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70"/>
              </a:spcBef>
            </a:pP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or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Santhali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at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home</a:t>
            </a:r>
            <a:endParaRPr sz="1400">
              <a:latin typeface="Calibri"/>
              <a:cs typeface="Calibri"/>
            </a:endParaRPr>
          </a:p>
          <a:p>
            <a:pPr marL="355600" marR="42545" indent="-342900">
              <a:lnSpc>
                <a:spcPct val="110000"/>
              </a:lnSpc>
              <a:spcBef>
                <a:spcPts val="600"/>
              </a:spcBef>
              <a:buChar char="•"/>
              <a:tabLst>
                <a:tab pos="355600" algn="l"/>
              </a:tabLst>
            </a:pP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5,000+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tribal-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area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schools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need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MTB-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MLE,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but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Hindi-medium-trained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teachers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lack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tribal-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language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proficiency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core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bottleneck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blocking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PALASH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from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scaling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General-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purpose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tools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(e.g.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Adi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Vaani)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solve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one-off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phrase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translation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not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real-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time,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curriculum-synced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classroom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teaching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dialogue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1500" b="1" u="sng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OUR</a:t>
            </a:r>
            <a:r>
              <a:rPr sz="1500" b="1" u="sng" spc="-15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 </a:t>
            </a:r>
            <a:r>
              <a:rPr sz="1500" b="1" u="sng" spc="-1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SOLUTION</a:t>
            </a:r>
            <a:endParaRPr sz="1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25"/>
              </a:spcBef>
              <a:buChar char="•"/>
              <a:tabLst>
                <a:tab pos="354965" algn="l"/>
              </a:tabLst>
            </a:pP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AI-assisted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translation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curriculum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companion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built for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PALASH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FLN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classroom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not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general translator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Curriculum-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bounded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Hindi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↔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Ho/Mundari/Santhali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phrase-matching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engine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mapped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directly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NIPUN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Bharat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FLN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content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</a:tabLst>
            </a:pP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Real-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time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two-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way</a:t>
            </a:r>
            <a:r>
              <a:rPr sz="1400" spc="-5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voice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dialogue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between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teacher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student,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sub-3-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second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latency,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fully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offline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on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≤2GB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RAM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tablets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5"/>
              </a:spcBef>
              <a:buChar char="•"/>
              <a:tabLst>
                <a:tab pos="354965" algn="l"/>
              </a:tabLst>
            </a:pP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Auto-generated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bilingual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worksheets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sz="1400" spc="-5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visual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flashcards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aligned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FLN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learning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outcomes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Char char="•"/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Calibri"/>
              <a:buChar char="•"/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b="1" u="sng" spc="-25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INNOVATION</a:t>
            </a:r>
            <a:r>
              <a:rPr sz="1500" b="1" u="sng" spc="-2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 </a:t>
            </a:r>
            <a:r>
              <a:rPr sz="1500" b="1" u="sng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&amp;</a:t>
            </a:r>
            <a:r>
              <a:rPr sz="1500" b="1" u="sng" spc="-5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 </a:t>
            </a:r>
            <a:r>
              <a:rPr sz="1500" b="1" u="sng" spc="-10" dirty="0">
                <a:solidFill>
                  <a:srgbClr val="1F3863"/>
                </a:solidFill>
                <a:uFill>
                  <a:solidFill>
                    <a:srgbClr val="1F3863"/>
                  </a:solidFill>
                </a:uFill>
                <a:latin typeface="Calibri"/>
                <a:cs typeface="Calibri"/>
              </a:rPr>
              <a:t>UNIQUENESS</a:t>
            </a:r>
            <a:endParaRPr sz="1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Char char="•"/>
              <a:tabLst>
                <a:tab pos="354965" algn="l"/>
              </a:tabLst>
            </a:pP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Adi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 Vaani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solves</a:t>
            </a:r>
            <a:r>
              <a:rPr sz="135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general-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purpose</a:t>
            </a:r>
            <a:r>
              <a:rPr sz="1350" spc="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translation;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we</a:t>
            </a:r>
            <a:r>
              <a:rPr sz="135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solve</a:t>
            </a:r>
            <a:r>
              <a:rPr sz="135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classroom-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embedded,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curriculum-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synced</a:t>
            </a:r>
            <a:r>
              <a:rPr sz="1350" spc="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teaching</a:t>
            </a:r>
            <a:r>
              <a:rPr sz="135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dialogue</a:t>
            </a:r>
            <a:r>
              <a:rPr sz="1350" spc="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sz="135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a</a:t>
            </a:r>
            <a:r>
              <a:rPr sz="135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narrower,</a:t>
            </a:r>
            <a:r>
              <a:rPr sz="1350" spc="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deployable-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first</a:t>
            </a:r>
            <a:r>
              <a:rPr sz="135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problem</a:t>
            </a:r>
            <a:endParaRPr sz="13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Honest,</a:t>
            </a:r>
            <a:r>
              <a:rPr sz="135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curriculum-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bounded</a:t>
            </a:r>
            <a:r>
              <a:rPr sz="1350" spc="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scope</a:t>
            </a:r>
            <a:r>
              <a:rPr sz="135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(~2,000–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3,000</a:t>
            </a:r>
            <a:r>
              <a:rPr sz="1350" spc="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FLN</a:t>
            </a:r>
            <a:r>
              <a:rPr sz="135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words)</a:t>
            </a:r>
            <a:r>
              <a:rPr sz="135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makes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accurate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low-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resource</a:t>
            </a:r>
            <a:r>
              <a:rPr sz="135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translation</a:t>
            </a:r>
            <a:r>
              <a:rPr sz="135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realistic</a:t>
            </a:r>
            <a:r>
              <a:rPr sz="135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221F1F"/>
                </a:solidFill>
                <a:latin typeface="Calibri"/>
                <a:cs typeface="Calibri"/>
              </a:rPr>
              <a:t>today,</a:t>
            </a:r>
            <a:r>
              <a:rPr sz="135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instead</a:t>
            </a:r>
            <a:r>
              <a:rPr sz="135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overpromising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open-</a:t>
            </a:r>
            <a:endParaRPr sz="13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55"/>
              </a:spcBef>
            </a:pP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domain</a:t>
            </a:r>
            <a:r>
              <a:rPr sz="135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221F1F"/>
                </a:solidFill>
                <a:latin typeface="Calibri"/>
                <a:cs typeface="Calibri"/>
              </a:rPr>
              <a:t>MT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6469760"/>
            <a:ext cx="8694420" cy="172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  <a:tabLst>
                <a:tab pos="342265" algn="l"/>
              </a:tabLst>
            </a:pPr>
            <a:r>
              <a:rPr sz="1350" spc="-50" dirty="0">
                <a:solidFill>
                  <a:srgbClr val="221F1F"/>
                </a:solidFill>
                <a:latin typeface="Calibri"/>
                <a:cs typeface="Calibri"/>
              </a:rPr>
              <a:t>•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	</a:t>
            </a:r>
            <a:r>
              <a:rPr sz="1350" spc="-25" dirty="0">
                <a:solidFill>
                  <a:srgbClr val="221F1F"/>
                </a:solidFill>
                <a:latin typeface="Calibri"/>
                <a:cs typeface="Calibri"/>
              </a:rPr>
              <a:t>Two-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way</a:t>
            </a:r>
            <a:r>
              <a:rPr sz="1350" spc="-6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interactive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loop</a:t>
            </a:r>
            <a:r>
              <a:rPr sz="135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with</a:t>
            </a:r>
            <a:r>
              <a:rPr sz="135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graceful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no-match</a:t>
            </a:r>
            <a:r>
              <a:rPr sz="135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fallback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+</a:t>
            </a:r>
            <a:r>
              <a:rPr sz="135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teacher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feedback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loop</a:t>
            </a:r>
            <a:r>
              <a:rPr sz="135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that</a:t>
            </a:r>
            <a:r>
              <a:rPr sz="135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Calibri"/>
                <a:cs typeface="Calibri"/>
              </a:rPr>
              <a:t>keeps improving</a:t>
            </a:r>
            <a:r>
              <a:rPr sz="135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sz="135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21F1F"/>
                </a:solidFill>
                <a:latin typeface="Calibri"/>
                <a:cs typeface="Calibri"/>
              </a:rPr>
              <a:t>phrase</a:t>
            </a:r>
            <a:r>
              <a:rPr sz="135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221F1F"/>
                </a:solidFill>
                <a:latin typeface="Calibri"/>
                <a:cs typeface="Calibri"/>
              </a:rPr>
              <a:t>bank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6473952"/>
            <a:ext cx="12189460" cy="384175"/>
          </a:xfrm>
          <a:custGeom>
            <a:avLst/>
            <a:gdLst/>
            <a:ahLst/>
            <a:cxnLst/>
            <a:rect l="l" t="t" r="r" b="b"/>
            <a:pathLst>
              <a:path w="12189460" h="384175">
                <a:moveTo>
                  <a:pt x="12188952" y="0"/>
                </a:moveTo>
                <a:lnTo>
                  <a:pt x="0" y="0"/>
                </a:lnTo>
                <a:lnTo>
                  <a:pt x="0" y="384048"/>
                </a:lnTo>
                <a:lnTo>
                  <a:pt x="12188952" y="384048"/>
                </a:lnTo>
                <a:lnTo>
                  <a:pt x="12188952" y="0"/>
                </a:lnTo>
                <a:close/>
              </a:path>
            </a:pathLst>
          </a:custGeom>
          <a:solidFill>
            <a:srgbClr val="1773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SIH26042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153" y="424687"/>
            <a:ext cx="811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221F1F"/>
                </a:solidFill>
                <a:latin typeface="Calibri"/>
                <a:cs typeface="Calibri"/>
              </a:rPr>
              <a:t>Loading…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1009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-60" dirty="0"/>
              <a:t> </a:t>
            </a:r>
            <a:r>
              <a:rPr spc="-25" dirty="0"/>
              <a:t>APPROACH</a:t>
            </a:r>
          </a:p>
        </p:txBody>
      </p:sp>
      <p:pic>
        <p:nvPicPr>
          <p:cNvPr id="4" name="object 4" descr="/home/claude/sih_ppt/image2_sma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2596" y="123987"/>
            <a:ext cx="1834697" cy="8584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4500" y="929386"/>
            <a:ext cx="15316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1F3863"/>
                </a:solidFill>
                <a:latin typeface="Calibri"/>
                <a:cs typeface="Calibri"/>
              </a:rPr>
              <a:t>TECHNOLOGY</a:t>
            </a:r>
            <a:r>
              <a:rPr sz="1400" b="1" spc="-20" dirty="0">
                <a:solidFill>
                  <a:srgbClr val="1F3863"/>
                </a:solidFill>
                <a:latin typeface="Calibri"/>
                <a:cs typeface="Calibri"/>
              </a:rPr>
              <a:t> STACK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57200" y="1261872"/>
          <a:ext cx="5532120" cy="3947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2120"/>
              </a:tblGrid>
              <a:tr h="2743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FRONTEND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1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Android</a:t>
                      </a:r>
                      <a:r>
                        <a:rPr sz="14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(Kotlin,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Offline-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First)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solidFill>
                      <a:srgbClr val="1564A8"/>
                    </a:solidFill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400" spc="-2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Teacher 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Dashboard</a:t>
                      </a:r>
                      <a:r>
                        <a:rPr sz="1400" spc="-2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400" spc="-3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Live</a:t>
                      </a:r>
                      <a:r>
                        <a:rPr sz="1400" spc="-2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Voice</a:t>
                      </a:r>
                      <a:r>
                        <a:rPr sz="1400" spc="-3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Companion</a:t>
                      </a:r>
                      <a:r>
                        <a:rPr sz="1400" spc="-2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400" spc="-3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Worksheet/Flashcard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Generator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ON-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DEVICE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AI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ENGINE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TF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Lite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ONNX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(Quantized)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C87E1E"/>
                    </a:solidFill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 marL="91440" marR="598805">
                        <a:lnSpc>
                          <a:spcPct val="105000"/>
                        </a:lnSpc>
                        <a:spcBef>
                          <a:spcPts val="670"/>
                        </a:spcBef>
                      </a:pP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ASR:</a:t>
                      </a:r>
                      <a:r>
                        <a:rPr sz="1400" spc="-4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IndicWav2Vec/Vosk</a:t>
                      </a:r>
                      <a:r>
                        <a:rPr sz="1400" spc="28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400" spc="24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Curriculum-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Bounded</a:t>
                      </a:r>
                      <a:r>
                        <a:rPr sz="1400" spc="-1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Match</a:t>
                      </a:r>
                      <a:r>
                        <a:rPr sz="1400" spc="-2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4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Retrieval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Engine</a:t>
                      </a:r>
                      <a:r>
                        <a:rPr sz="1400" spc="28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400" spc="26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TTS:</a:t>
                      </a:r>
                      <a:r>
                        <a:rPr sz="1400" spc="-2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Vakyansh/VITS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5090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LOCAL</a:t>
                      </a:r>
                      <a:r>
                        <a:rPr sz="14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STORAGE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2D7C31"/>
                    </a:solidFill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SQLite</a:t>
                      </a:r>
                      <a:r>
                        <a:rPr sz="1400" spc="-4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1400" spc="-3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Curriculum</a:t>
                      </a:r>
                      <a:r>
                        <a:rPr sz="1400" spc="-2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Cache,</a:t>
                      </a:r>
                      <a:r>
                        <a:rPr sz="1400" spc="-1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FLN</a:t>
                      </a:r>
                      <a:r>
                        <a:rPr sz="1400" spc="-4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Phrase</a:t>
                      </a:r>
                      <a:r>
                        <a:rPr sz="1400" spc="-2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Bank</a:t>
                      </a:r>
                      <a:r>
                        <a:rPr sz="1400" spc="-3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4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Translation 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Memory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BACKEND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Cloud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(periodic</a:t>
                      </a:r>
                      <a:r>
                        <a:rPr sz="14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sync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only)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5E35B0"/>
                    </a:solidFill>
                  </a:tcPr>
                </a:tc>
              </a:tr>
              <a:tr h="6578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Node.js/FastAPI</a:t>
                      </a:r>
                      <a:r>
                        <a:rPr sz="1400" spc="-5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API</a:t>
                      </a:r>
                      <a:r>
                        <a:rPr sz="1400" spc="-2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Gateway</a:t>
                      </a:r>
                      <a:r>
                        <a:rPr sz="1400" spc="28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400" spc="26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PostgreSQL</a:t>
                      </a:r>
                      <a:r>
                        <a:rPr sz="1400" spc="-3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Curriculum</a:t>
                      </a:r>
                      <a:r>
                        <a:rPr sz="1400" spc="-2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3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Phrase-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Bank</a:t>
                      </a:r>
                      <a:r>
                        <a:rPr sz="1400" spc="-2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DB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400" spc="24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Update</a:t>
                      </a:r>
                      <a:r>
                        <a:rPr sz="1400" spc="-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Server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57200" y="5285232"/>
          <a:ext cx="5532120" cy="931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2120"/>
              </a:tblGrid>
              <a:tr h="27368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SOURCES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solidFill>
                      <a:srgbClr val="1F3863"/>
                    </a:solidFill>
                  </a:tcPr>
                </a:tc>
              </a:tr>
              <a:tr h="6578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1400" spc="-2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PALASH</a:t>
                      </a:r>
                      <a:r>
                        <a:rPr sz="1400" spc="-3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FLN</a:t>
                      </a:r>
                      <a:r>
                        <a:rPr sz="1400" spc="-4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Curriculum</a:t>
                      </a:r>
                      <a:r>
                        <a:rPr sz="1400" spc="-2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2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AI4Bharat/Bhashini</a:t>
                      </a:r>
                      <a:r>
                        <a:rPr sz="1400" spc="-1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(bootstrap</a:t>
                      </a:r>
                      <a:r>
                        <a:rPr sz="1400" spc="-2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3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validation)</a:t>
                      </a:r>
                      <a:r>
                        <a:rPr sz="1400" spc="28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2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Teacher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feedback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loop</a:t>
                      </a:r>
                      <a:r>
                        <a:rPr sz="1400" spc="27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·</a:t>
                      </a:r>
                      <a:r>
                        <a:rPr sz="1400" spc="27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JWT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AES-</a:t>
                      </a:r>
                      <a:r>
                        <a:rPr sz="1400" spc="-25" dirty="0">
                          <a:solidFill>
                            <a:srgbClr val="221F1F"/>
                          </a:solidFill>
                          <a:latin typeface="Calibri"/>
                          <a:cs typeface="Calibri"/>
                        </a:rPr>
                        <a:t>256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885" marB="0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160389" y="929386"/>
            <a:ext cx="46450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79312F"/>
                </a:solidFill>
                <a:latin typeface="Calibri"/>
                <a:cs typeface="Calibri"/>
              </a:rPr>
              <a:t>CLASSROOM</a:t>
            </a:r>
            <a:r>
              <a:rPr sz="1400" b="1" spc="-35" dirty="0">
                <a:solidFill>
                  <a:srgbClr val="79312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79312F"/>
                </a:solidFill>
                <a:latin typeface="Calibri"/>
                <a:cs typeface="Calibri"/>
              </a:rPr>
              <a:t>INTERACTION</a:t>
            </a:r>
            <a:r>
              <a:rPr sz="1400" b="1" spc="-45" dirty="0">
                <a:solidFill>
                  <a:srgbClr val="79312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79312F"/>
                </a:solidFill>
                <a:latin typeface="Calibri"/>
                <a:cs typeface="Calibri"/>
              </a:rPr>
              <a:t>FLOW</a:t>
            </a:r>
            <a:r>
              <a:rPr sz="1400" b="1" spc="-30" dirty="0">
                <a:solidFill>
                  <a:srgbClr val="79312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79312F"/>
                </a:solidFill>
                <a:latin typeface="Calibri"/>
                <a:cs typeface="Calibri"/>
              </a:rPr>
              <a:t>(TWO-</a:t>
            </a:r>
            <a:r>
              <a:rPr sz="1400" b="1" spc="-95" dirty="0">
                <a:solidFill>
                  <a:srgbClr val="79312F"/>
                </a:solidFill>
                <a:latin typeface="Calibri"/>
                <a:cs typeface="Calibri"/>
              </a:rPr>
              <a:t>WAY,</a:t>
            </a:r>
            <a:r>
              <a:rPr sz="1400" b="1" spc="-30" dirty="0">
                <a:solidFill>
                  <a:srgbClr val="79312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79312F"/>
                </a:solidFill>
                <a:latin typeface="Calibri"/>
                <a:cs typeface="Calibri"/>
              </a:rPr>
              <a:t>WITH</a:t>
            </a:r>
            <a:r>
              <a:rPr sz="1400" b="1" spc="-15" dirty="0">
                <a:solidFill>
                  <a:srgbClr val="79312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79312F"/>
                </a:solidFill>
                <a:latin typeface="Calibri"/>
                <a:cs typeface="Calibri"/>
              </a:rPr>
              <a:t>FALLBACK)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72200" y="1261872"/>
            <a:ext cx="5532120" cy="567055"/>
          </a:xfrm>
          <a:custGeom>
            <a:avLst/>
            <a:gdLst/>
            <a:ahLst/>
            <a:cxnLst/>
            <a:rect l="l" t="t" r="r" b="b"/>
            <a:pathLst>
              <a:path w="5532120" h="567055">
                <a:moveTo>
                  <a:pt x="5477256" y="0"/>
                </a:moveTo>
                <a:lnTo>
                  <a:pt x="54863" y="0"/>
                </a:lnTo>
                <a:lnTo>
                  <a:pt x="33486" y="4304"/>
                </a:lnTo>
                <a:lnTo>
                  <a:pt x="16049" y="16049"/>
                </a:lnTo>
                <a:lnTo>
                  <a:pt x="4304" y="33486"/>
                </a:lnTo>
                <a:lnTo>
                  <a:pt x="0" y="54863"/>
                </a:lnTo>
                <a:lnTo>
                  <a:pt x="0" y="512063"/>
                </a:lnTo>
                <a:lnTo>
                  <a:pt x="4304" y="533441"/>
                </a:lnTo>
                <a:lnTo>
                  <a:pt x="16049" y="550878"/>
                </a:lnTo>
                <a:lnTo>
                  <a:pt x="33486" y="562623"/>
                </a:lnTo>
                <a:lnTo>
                  <a:pt x="54863" y="566927"/>
                </a:lnTo>
                <a:lnTo>
                  <a:pt x="5477256" y="566927"/>
                </a:lnTo>
                <a:lnTo>
                  <a:pt x="5498633" y="562623"/>
                </a:lnTo>
                <a:lnTo>
                  <a:pt x="5516070" y="550878"/>
                </a:lnTo>
                <a:lnTo>
                  <a:pt x="5527815" y="533441"/>
                </a:lnTo>
                <a:lnTo>
                  <a:pt x="5532120" y="512063"/>
                </a:lnTo>
                <a:lnTo>
                  <a:pt x="5532120" y="54863"/>
                </a:lnTo>
                <a:lnTo>
                  <a:pt x="5527815" y="33486"/>
                </a:lnTo>
                <a:lnTo>
                  <a:pt x="5516070" y="16049"/>
                </a:lnTo>
                <a:lnTo>
                  <a:pt x="5498633" y="4304"/>
                </a:lnTo>
                <a:lnTo>
                  <a:pt x="5477256" y="0"/>
                </a:lnTo>
                <a:close/>
              </a:path>
            </a:pathLst>
          </a:custGeom>
          <a:solidFill>
            <a:srgbClr val="1F4E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97548" y="1414018"/>
            <a:ext cx="15665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Teacher</a:t>
            </a:r>
            <a:r>
              <a:rPr sz="14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speaks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Hindi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72200" y="1938527"/>
            <a:ext cx="5532120" cy="567055"/>
          </a:xfrm>
          <a:custGeom>
            <a:avLst/>
            <a:gdLst/>
            <a:ahLst/>
            <a:cxnLst/>
            <a:rect l="l" t="t" r="r" b="b"/>
            <a:pathLst>
              <a:path w="5532120" h="567055">
                <a:moveTo>
                  <a:pt x="5477256" y="0"/>
                </a:moveTo>
                <a:lnTo>
                  <a:pt x="54863" y="0"/>
                </a:lnTo>
                <a:lnTo>
                  <a:pt x="33486" y="4304"/>
                </a:lnTo>
                <a:lnTo>
                  <a:pt x="16049" y="16049"/>
                </a:lnTo>
                <a:lnTo>
                  <a:pt x="4304" y="33486"/>
                </a:lnTo>
                <a:lnTo>
                  <a:pt x="0" y="54863"/>
                </a:lnTo>
                <a:lnTo>
                  <a:pt x="0" y="512063"/>
                </a:lnTo>
                <a:lnTo>
                  <a:pt x="4304" y="533441"/>
                </a:lnTo>
                <a:lnTo>
                  <a:pt x="16049" y="550878"/>
                </a:lnTo>
                <a:lnTo>
                  <a:pt x="33486" y="562623"/>
                </a:lnTo>
                <a:lnTo>
                  <a:pt x="54863" y="566927"/>
                </a:lnTo>
                <a:lnTo>
                  <a:pt x="5477256" y="566927"/>
                </a:lnTo>
                <a:lnTo>
                  <a:pt x="5498633" y="562623"/>
                </a:lnTo>
                <a:lnTo>
                  <a:pt x="5516070" y="550878"/>
                </a:lnTo>
                <a:lnTo>
                  <a:pt x="5527815" y="533441"/>
                </a:lnTo>
                <a:lnTo>
                  <a:pt x="5532120" y="512063"/>
                </a:lnTo>
                <a:lnTo>
                  <a:pt x="5532120" y="54863"/>
                </a:lnTo>
                <a:lnTo>
                  <a:pt x="5527815" y="33486"/>
                </a:lnTo>
                <a:lnTo>
                  <a:pt x="5516070" y="16049"/>
                </a:lnTo>
                <a:lnTo>
                  <a:pt x="5498633" y="4304"/>
                </a:lnTo>
                <a:lnTo>
                  <a:pt x="5477256" y="0"/>
                </a:lnTo>
                <a:close/>
              </a:path>
            </a:pathLst>
          </a:custGeom>
          <a:solidFill>
            <a:srgbClr val="7931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72200" y="2615183"/>
            <a:ext cx="5532120" cy="567055"/>
          </a:xfrm>
          <a:custGeom>
            <a:avLst/>
            <a:gdLst/>
            <a:ahLst/>
            <a:cxnLst/>
            <a:rect l="l" t="t" r="r" b="b"/>
            <a:pathLst>
              <a:path w="5532120" h="567055">
                <a:moveTo>
                  <a:pt x="5477256" y="0"/>
                </a:moveTo>
                <a:lnTo>
                  <a:pt x="54863" y="0"/>
                </a:lnTo>
                <a:lnTo>
                  <a:pt x="33486" y="4304"/>
                </a:lnTo>
                <a:lnTo>
                  <a:pt x="16049" y="16049"/>
                </a:lnTo>
                <a:lnTo>
                  <a:pt x="4304" y="33486"/>
                </a:lnTo>
                <a:lnTo>
                  <a:pt x="0" y="54863"/>
                </a:lnTo>
                <a:lnTo>
                  <a:pt x="0" y="512063"/>
                </a:lnTo>
                <a:lnTo>
                  <a:pt x="4304" y="533441"/>
                </a:lnTo>
                <a:lnTo>
                  <a:pt x="16049" y="550878"/>
                </a:lnTo>
                <a:lnTo>
                  <a:pt x="33486" y="562623"/>
                </a:lnTo>
                <a:lnTo>
                  <a:pt x="54863" y="566927"/>
                </a:lnTo>
                <a:lnTo>
                  <a:pt x="5477256" y="566927"/>
                </a:lnTo>
                <a:lnTo>
                  <a:pt x="5498633" y="562623"/>
                </a:lnTo>
                <a:lnTo>
                  <a:pt x="5516070" y="550878"/>
                </a:lnTo>
                <a:lnTo>
                  <a:pt x="5527815" y="533441"/>
                </a:lnTo>
                <a:lnTo>
                  <a:pt x="5532120" y="512063"/>
                </a:lnTo>
                <a:lnTo>
                  <a:pt x="5532120" y="54863"/>
                </a:lnTo>
                <a:lnTo>
                  <a:pt x="5527815" y="33486"/>
                </a:lnTo>
                <a:lnTo>
                  <a:pt x="5516070" y="16049"/>
                </a:lnTo>
                <a:lnTo>
                  <a:pt x="5498633" y="4304"/>
                </a:lnTo>
                <a:lnTo>
                  <a:pt x="5477256" y="0"/>
                </a:lnTo>
                <a:close/>
              </a:path>
            </a:pathLst>
          </a:custGeom>
          <a:solidFill>
            <a:srgbClr val="1F4E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72200" y="3291840"/>
            <a:ext cx="5532120" cy="567055"/>
          </a:xfrm>
          <a:custGeom>
            <a:avLst/>
            <a:gdLst/>
            <a:ahLst/>
            <a:cxnLst/>
            <a:rect l="l" t="t" r="r" b="b"/>
            <a:pathLst>
              <a:path w="5532120" h="567054">
                <a:moveTo>
                  <a:pt x="5477256" y="0"/>
                </a:moveTo>
                <a:lnTo>
                  <a:pt x="54863" y="0"/>
                </a:lnTo>
                <a:lnTo>
                  <a:pt x="33486" y="4304"/>
                </a:lnTo>
                <a:lnTo>
                  <a:pt x="16049" y="16049"/>
                </a:lnTo>
                <a:lnTo>
                  <a:pt x="4304" y="33486"/>
                </a:lnTo>
                <a:lnTo>
                  <a:pt x="0" y="54863"/>
                </a:lnTo>
                <a:lnTo>
                  <a:pt x="0" y="512064"/>
                </a:lnTo>
                <a:lnTo>
                  <a:pt x="4304" y="533441"/>
                </a:lnTo>
                <a:lnTo>
                  <a:pt x="16049" y="550878"/>
                </a:lnTo>
                <a:lnTo>
                  <a:pt x="33486" y="562623"/>
                </a:lnTo>
                <a:lnTo>
                  <a:pt x="54863" y="566928"/>
                </a:lnTo>
                <a:lnTo>
                  <a:pt x="5477256" y="566928"/>
                </a:lnTo>
                <a:lnTo>
                  <a:pt x="5498633" y="562623"/>
                </a:lnTo>
                <a:lnTo>
                  <a:pt x="5516070" y="550878"/>
                </a:lnTo>
                <a:lnTo>
                  <a:pt x="5527815" y="533441"/>
                </a:lnTo>
                <a:lnTo>
                  <a:pt x="5532120" y="512064"/>
                </a:lnTo>
                <a:lnTo>
                  <a:pt x="5532120" y="54863"/>
                </a:lnTo>
                <a:lnTo>
                  <a:pt x="5527815" y="33486"/>
                </a:lnTo>
                <a:lnTo>
                  <a:pt x="5516070" y="16049"/>
                </a:lnTo>
                <a:lnTo>
                  <a:pt x="5498633" y="4304"/>
                </a:lnTo>
                <a:lnTo>
                  <a:pt x="5477256" y="0"/>
                </a:lnTo>
                <a:close/>
              </a:path>
            </a:pathLst>
          </a:custGeom>
          <a:solidFill>
            <a:srgbClr val="7931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72200" y="3968496"/>
            <a:ext cx="5532120" cy="567055"/>
          </a:xfrm>
          <a:custGeom>
            <a:avLst/>
            <a:gdLst/>
            <a:ahLst/>
            <a:cxnLst/>
            <a:rect l="l" t="t" r="r" b="b"/>
            <a:pathLst>
              <a:path w="5532120" h="567054">
                <a:moveTo>
                  <a:pt x="5477256" y="0"/>
                </a:moveTo>
                <a:lnTo>
                  <a:pt x="54863" y="0"/>
                </a:lnTo>
                <a:lnTo>
                  <a:pt x="33486" y="4304"/>
                </a:lnTo>
                <a:lnTo>
                  <a:pt x="16049" y="16049"/>
                </a:lnTo>
                <a:lnTo>
                  <a:pt x="4304" y="33486"/>
                </a:lnTo>
                <a:lnTo>
                  <a:pt x="0" y="54863"/>
                </a:lnTo>
                <a:lnTo>
                  <a:pt x="0" y="512063"/>
                </a:lnTo>
                <a:lnTo>
                  <a:pt x="4304" y="533441"/>
                </a:lnTo>
                <a:lnTo>
                  <a:pt x="16049" y="550878"/>
                </a:lnTo>
                <a:lnTo>
                  <a:pt x="33486" y="562623"/>
                </a:lnTo>
                <a:lnTo>
                  <a:pt x="54863" y="566927"/>
                </a:lnTo>
                <a:lnTo>
                  <a:pt x="5477256" y="566927"/>
                </a:lnTo>
                <a:lnTo>
                  <a:pt x="5498633" y="562623"/>
                </a:lnTo>
                <a:lnTo>
                  <a:pt x="5516070" y="550878"/>
                </a:lnTo>
                <a:lnTo>
                  <a:pt x="5527815" y="533441"/>
                </a:lnTo>
                <a:lnTo>
                  <a:pt x="5532120" y="512063"/>
                </a:lnTo>
                <a:lnTo>
                  <a:pt x="5532120" y="54863"/>
                </a:lnTo>
                <a:lnTo>
                  <a:pt x="5527815" y="33486"/>
                </a:lnTo>
                <a:lnTo>
                  <a:pt x="5516070" y="16049"/>
                </a:lnTo>
                <a:lnTo>
                  <a:pt x="5498633" y="4304"/>
                </a:lnTo>
                <a:lnTo>
                  <a:pt x="5477256" y="0"/>
                </a:lnTo>
                <a:close/>
              </a:path>
            </a:pathLst>
          </a:custGeom>
          <a:solidFill>
            <a:srgbClr val="1F4E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97548" y="1761489"/>
            <a:ext cx="4573905" cy="2599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9930" algn="ctr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C87E1E"/>
                </a:solidFill>
                <a:latin typeface="Calibri"/>
                <a:cs typeface="Calibri"/>
              </a:rPr>
              <a:t>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ASR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captures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4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normalizes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speech</a:t>
            </a:r>
            <a:endParaRPr sz="1400">
              <a:latin typeface="Calibri"/>
              <a:cs typeface="Calibri"/>
            </a:endParaRPr>
          </a:p>
          <a:p>
            <a:pPr marL="709930" algn="ctr">
              <a:lnSpc>
                <a:spcPct val="100000"/>
              </a:lnSpc>
              <a:spcBef>
                <a:spcPts val="1050"/>
              </a:spcBef>
            </a:pPr>
            <a:r>
              <a:rPr sz="1300" b="1" spc="-50" dirty="0">
                <a:solidFill>
                  <a:srgbClr val="C87E1E"/>
                </a:solidFill>
                <a:latin typeface="Calibri"/>
                <a:cs typeface="Calibri"/>
              </a:rPr>
              <a:t>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Match</a:t>
            </a:r>
            <a:r>
              <a:rPr sz="1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against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FLN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phrase</a:t>
            </a:r>
            <a:r>
              <a:rPr sz="1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bank</a:t>
            </a:r>
            <a:endParaRPr sz="1400">
              <a:latin typeface="Calibri"/>
              <a:cs typeface="Calibri"/>
            </a:endParaRPr>
          </a:p>
          <a:p>
            <a:pPr marL="709930" algn="ctr">
              <a:lnSpc>
                <a:spcPct val="100000"/>
              </a:lnSpc>
              <a:spcBef>
                <a:spcPts val="1050"/>
              </a:spcBef>
            </a:pPr>
            <a:r>
              <a:rPr sz="1300" b="1" spc="-50" dirty="0">
                <a:solidFill>
                  <a:srgbClr val="C87E1E"/>
                </a:solidFill>
                <a:latin typeface="Calibri"/>
                <a:cs typeface="Calibri"/>
              </a:rPr>
              <a:t>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Match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found</a:t>
            </a: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play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tribal-language</a:t>
            </a:r>
            <a:r>
              <a:rPr sz="14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audio</a:t>
            </a: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endParaRPr sz="1400">
              <a:latin typeface="Calibri"/>
              <a:cs typeface="Calibri"/>
            </a:endParaRPr>
          </a:p>
          <a:p>
            <a:pPr marL="709930" algn="ctr">
              <a:lnSpc>
                <a:spcPct val="100000"/>
              </a:lnSpc>
              <a:spcBef>
                <a:spcPts val="1050"/>
              </a:spcBef>
            </a:pPr>
            <a:r>
              <a:rPr sz="1300" b="1" spc="-50" dirty="0">
                <a:solidFill>
                  <a:srgbClr val="C87E1E"/>
                </a:solidFill>
                <a:latin typeface="Calibri"/>
                <a:cs typeface="Calibri"/>
              </a:rPr>
              <a:t>↓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responds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reverse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match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Hindi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teacher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72200" y="4690871"/>
            <a:ext cx="5532120" cy="502920"/>
          </a:xfrm>
          <a:prstGeom prst="rect">
            <a:avLst/>
          </a:prstGeom>
          <a:solidFill>
            <a:srgbClr val="F1F1F1"/>
          </a:solidFill>
          <a:ln w="12700">
            <a:solidFill>
              <a:srgbClr val="C87E1E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92075" marR="174625">
              <a:lnSpc>
                <a:spcPct val="105000"/>
              </a:lnSpc>
              <a:spcBef>
                <a:spcPts val="60"/>
              </a:spcBef>
            </a:pPr>
            <a:r>
              <a:rPr sz="1400" i="1" dirty="0">
                <a:solidFill>
                  <a:srgbClr val="221F1F"/>
                </a:solidFill>
                <a:latin typeface="Calibri"/>
                <a:cs typeface="Calibri"/>
              </a:rPr>
              <a:t>No</a:t>
            </a:r>
            <a:r>
              <a:rPr sz="1400" i="1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21F1F"/>
                </a:solidFill>
                <a:latin typeface="Calibri"/>
                <a:cs typeface="Calibri"/>
              </a:rPr>
              <a:t>match</a:t>
            </a:r>
            <a:r>
              <a:rPr sz="1400" i="1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21F1F"/>
                </a:solidFill>
                <a:latin typeface="Calibri"/>
                <a:cs typeface="Calibri"/>
              </a:rPr>
              <a:t>→</a:t>
            </a:r>
            <a:r>
              <a:rPr sz="1400" i="1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21F1F"/>
                </a:solidFill>
                <a:latin typeface="Calibri"/>
                <a:cs typeface="Calibri"/>
              </a:rPr>
              <a:t>flagged</a:t>
            </a:r>
            <a:r>
              <a:rPr sz="1400" i="1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sz="1400" i="1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21F1F"/>
                </a:solidFill>
                <a:latin typeface="Calibri"/>
                <a:cs typeface="Calibri"/>
              </a:rPr>
              <a:t>logged</a:t>
            </a:r>
            <a:r>
              <a:rPr sz="1400" i="1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21F1F"/>
                </a:solidFill>
                <a:latin typeface="Calibri"/>
                <a:cs typeface="Calibri"/>
              </a:rPr>
              <a:t>→</a:t>
            </a:r>
            <a:r>
              <a:rPr sz="1400" i="1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21F1F"/>
                </a:solidFill>
                <a:latin typeface="Calibri"/>
                <a:cs typeface="Calibri"/>
              </a:rPr>
              <a:t>added</a:t>
            </a:r>
            <a:r>
              <a:rPr sz="1400" i="1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sz="1400" i="1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21F1F"/>
                </a:solidFill>
                <a:latin typeface="Calibri"/>
                <a:cs typeface="Calibri"/>
              </a:rPr>
              <a:t>phrase-bank</a:t>
            </a:r>
            <a:r>
              <a:rPr sz="1400" i="1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221F1F"/>
                </a:solidFill>
                <a:latin typeface="Calibri"/>
                <a:cs typeface="Calibri"/>
              </a:rPr>
              <a:t>expansion</a:t>
            </a:r>
            <a:r>
              <a:rPr sz="1400" i="1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221F1F"/>
                </a:solidFill>
                <a:latin typeface="Calibri"/>
                <a:cs typeface="Calibri"/>
              </a:rPr>
              <a:t>queue </a:t>
            </a:r>
            <a:r>
              <a:rPr sz="1400" i="1" dirty="0">
                <a:solidFill>
                  <a:srgbClr val="221F1F"/>
                </a:solidFill>
                <a:latin typeface="Calibri"/>
                <a:cs typeface="Calibri"/>
              </a:rPr>
              <a:t>for</a:t>
            </a:r>
            <a:r>
              <a:rPr sz="1400" i="1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221F1F"/>
                </a:solidFill>
                <a:latin typeface="Calibri"/>
                <a:cs typeface="Calibri"/>
              </a:rPr>
              <a:t>teacher</a:t>
            </a:r>
            <a:r>
              <a:rPr sz="1400" i="1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221F1F"/>
                </a:solidFill>
                <a:latin typeface="Calibri"/>
                <a:cs typeface="Calibri"/>
              </a:rPr>
              <a:t>review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6473952"/>
            <a:ext cx="12189460" cy="384175"/>
          </a:xfrm>
          <a:custGeom>
            <a:avLst/>
            <a:gdLst/>
            <a:ahLst/>
            <a:cxnLst/>
            <a:rect l="l" t="t" r="r" b="b"/>
            <a:pathLst>
              <a:path w="12189460" h="384175">
                <a:moveTo>
                  <a:pt x="12188952" y="0"/>
                </a:moveTo>
                <a:lnTo>
                  <a:pt x="0" y="0"/>
                </a:lnTo>
                <a:lnTo>
                  <a:pt x="0" y="384048"/>
                </a:lnTo>
                <a:lnTo>
                  <a:pt x="12188952" y="384048"/>
                </a:lnTo>
                <a:lnTo>
                  <a:pt x="12188952" y="0"/>
                </a:lnTo>
                <a:close/>
              </a:path>
            </a:pathLst>
          </a:custGeom>
          <a:solidFill>
            <a:srgbClr val="1773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SIH26042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50" dirty="0"/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153" y="424687"/>
            <a:ext cx="811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221F1F"/>
                </a:solidFill>
                <a:latin typeface="Calibri"/>
                <a:cs typeface="Calibri"/>
              </a:rPr>
              <a:t>Loading…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FEASIBILITY</a:t>
            </a:r>
            <a:r>
              <a:rPr spc="-6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VIABILITY</a:t>
            </a:r>
          </a:p>
        </p:txBody>
      </p:sp>
      <p:pic>
        <p:nvPicPr>
          <p:cNvPr id="4" name="object 4" descr="/home/claude/sih_ppt/image2_sma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2596" y="123987"/>
            <a:ext cx="1834697" cy="8584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7200" y="914400"/>
            <a:ext cx="11247120" cy="311150"/>
          </a:xfrm>
          <a:prstGeom prst="rect">
            <a:avLst/>
          </a:prstGeom>
          <a:solidFill>
            <a:srgbClr val="1F4E47"/>
          </a:solidFill>
        </p:spPr>
        <p:txBody>
          <a:bodyPr vert="horz" wrap="square" lIns="0" tIns="450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5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FEASIBILITY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1201267"/>
            <a:ext cx="9951085" cy="117665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5"/>
              </a:spcBef>
              <a:buFont typeface="MS Gothic"/>
              <a:buChar char="✓"/>
              <a:tabLst>
                <a:tab pos="354965" algn="l"/>
              </a:tabLst>
            </a:pP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PALASH</a:t>
            </a:r>
            <a:r>
              <a:rPr sz="1400" spc="-5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already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has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curated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Hindi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FLN</a:t>
            </a:r>
            <a:r>
              <a:rPr sz="1400" spc="-5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curriculum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content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ready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seed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phrase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bank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Font typeface="MS Gothic"/>
              <a:buChar char="✓"/>
              <a:tabLst>
                <a:tab pos="354965" algn="l"/>
              </a:tabLst>
            </a:pP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FLN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vocabulary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is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domain-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bounded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(~2,000–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3,000</a:t>
            </a:r>
            <a:r>
              <a:rPr sz="1400" spc="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words)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realistic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scope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for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accurate curation, unlike open-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domain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MT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Font typeface="MS Gothic"/>
              <a:buChar char="✓"/>
              <a:tabLst>
                <a:tab pos="354965" algn="l"/>
              </a:tabLst>
            </a:pP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AI4Bharat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/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Bhashini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provide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reference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models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tooling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bootstrap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validate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pipeline,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not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dependency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for</a:t>
            </a:r>
            <a:r>
              <a:rPr sz="1400" spc="-6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full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fine-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tuning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MS Gothic"/>
              <a:buChar char="✓"/>
              <a:tabLst>
                <a:tab pos="354965" algn="l"/>
              </a:tabLst>
            </a:pP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Retrieval-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based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matching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(not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generative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inference)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keeps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latency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low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works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fully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offline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on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≤2GB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RAM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devices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200" y="2834639"/>
            <a:ext cx="5486400" cy="311150"/>
          </a:xfrm>
          <a:prstGeom prst="rect">
            <a:avLst/>
          </a:prstGeom>
          <a:solidFill>
            <a:srgbClr val="79312F"/>
          </a:solidFill>
        </p:spPr>
        <p:txBody>
          <a:bodyPr vert="horz" wrap="square" lIns="0" tIns="457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6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CHALLENGES</a:t>
            </a:r>
            <a:r>
              <a:rPr sz="13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3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RISKS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3202635"/>
            <a:ext cx="4954905" cy="49530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  <a:tabLst>
                <a:tab pos="354965" algn="l"/>
              </a:tabLst>
            </a:pPr>
            <a:r>
              <a:rPr sz="1400" spc="-750" dirty="0">
                <a:solidFill>
                  <a:srgbClr val="221F1F"/>
                </a:solidFill>
                <a:latin typeface="Calibri"/>
                <a:cs typeface="Calibri"/>
              </a:rPr>
              <a:t>⚠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Very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limited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existing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digital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parallel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corpora</a:t>
            </a:r>
            <a:r>
              <a:rPr sz="1400" spc="-6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for</a:t>
            </a:r>
            <a:r>
              <a:rPr sz="1400" spc="-6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Ho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Mundari</a:t>
            </a:r>
            <a:endParaRPr sz="1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65"/>
              </a:spcBef>
            </a:pP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specifically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3793616"/>
            <a:ext cx="37458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00" spc="-750" dirty="0">
                <a:solidFill>
                  <a:srgbClr val="221F1F"/>
                </a:solidFill>
                <a:latin typeface="Calibri"/>
                <a:cs typeface="Calibri"/>
              </a:rPr>
              <a:t>⚠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	Dialect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variation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within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single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tribal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language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4130421"/>
            <a:ext cx="40855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00" spc="-750" dirty="0">
                <a:solidFill>
                  <a:srgbClr val="221F1F"/>
                </a:solidFill>
                <a:latin typeface="Calibri"/>
                <a:cs typeface="Calibri"/>
              </a:rPr>
              <a:t>⚠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	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Teacher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trust/adoption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AI-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suggested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translations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940" y="4446117"/>
            <a:ext cx="4846955" cy="4959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102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400" spc="-750" dirty="0">
                <a:solidFill>
                  <a:srgbClr val="221F1F"/>
                </a:solidFill>
                <a:latin typeface="Calibri"/>
                <a:cs typeface="Calibri"/>
              </a:rPr>
              <a:t>⚠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Intermittent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connectivity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for</a:t>
            </a:r>
            <a:r>
              <a:rPr sz="1400" spc="-6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initial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content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sync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in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remote schools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72200" y="2834639"/>
            <a:ext cx="5532120" cy="311150"/>
          </a:xfrm>
          <a:prstGeom prst="rect">
            <a:avLst/>
          </a:prstGeom>
          <a:solidFill>
            <a:srgbClr val="1F3863"/>
          </a:solidFill>
        </p:spPr>
        <p:txBody>
          <a:bodyPr vert="horz" wrap="square" lIns="0" tIns="4572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60"/>
              </a:spcBef>
            </a:pP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MITIGATION</a:t>
            </a:r>
            <a:r>
              <a:rPr sz="13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STRATEGIES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1828" y="3202635"/>
            <a:ext cx="5274310" cy="49530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221F1F"/>
                </a:solidFill>
                <a:latin typeface="MS Gothic"/>
                <a:cs typeface="MS Gothic"/>
              </a:rPr>
              <a:t>➤</a:t>
            </a:r>
            <a:r>
              <a:rPr sz="1400" spc="-100" dirty="0">
                <a:solidFill>
                  <a:srgbClr val="221F1F"/>
                </a:solidFill>
                <a:latin typeface="MS Gothic"/>
                <a:cs typeface="MS Gothic"/>
              </a:rPr>
              <a:t> 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Start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with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Santhali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(Ol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Chiki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script,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strongest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existing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resource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base),</a:t>
            </a:r>
            <a:endParaRPr sz="1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65"/>
              </a:spcBef>
            </a:pP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then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expand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Ho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Mundari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51828" y="3772890"/>
            <a:ext cx="4850130" cy="49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10000"/>
              </a:lnSpc>
              <a:spcBef>
                <a:spcPts val="100"/>
              </a:spcBef>
            </a:pPr>
            <a:r>
              <a:rPr sz="1400" dirty="0">
                <a:solidFill>
                  <a:srgbClr val="221F1F"/>
                </a:solidFill>
                <a:latin typeface="MS Gothic"/>
                <a:cs typeface="MS Gothic"/>
              </a:rPr>
              <a:t>➤</a:t>
            </a:r>
            <a:r>
              <a:rPr sz="1400" spc="484" dirty="0">
                <a:solidFill>
                  <a:srgbClr val="221F1F"/>
                </a:solidFill>
                <a:latin typeface="MS Gothic"/>
                <a:cs typeface="MS Gothic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Partner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with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PALASH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linguists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native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speakers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for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structured validation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sprints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build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seed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phrase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bank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51828" y="4344349"/>
            <a:ext cx="5224780" cy="49530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dirty="0">
                <a:solidFill>
                  <a:srgbClr val="221F1F"/>
                </a:solidFill>
                <a:latin typeface="MS Gothic"/>
                <a:cs typeface="MS Gothic"/>
              </a:rPr>
              <a:t>➤</a:t>
            </a:r>
            <a:r>
              <a:rPr sz="1400" spc="-80" dirty="0">
                <a:solidFill>
                  <a:srgbClr val="221F1F"/>
                </a:solidFill>
                <a:latin typeface="MS Gothic"/>
                <a:cs typeface="MS Gothic"/>
              </a:rPr>
              <a:t> 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Human-in-the-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loop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design</a:t>
            </a:r>
            <a:r>
              <a:rPr sz="1400" spc="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teachers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approve/correct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translations</a:t>
            </a:r>
            <a:endParaRPr sz="1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70"/>
              </a:spcBef>
            </a:pP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before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use,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feeding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continuous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improvement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1828" y="4916271"/>
            <a:ext cx="5148580" cy="49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10000"/>
              </a:lnSpc>
              <a:spcBef>
                <a:spcPts val="100"/>
              </a:spcBef>
            </a:pPr>
            <a:r>
              <a:rPr sz="1400" dirty="0">
                <a:solidFill>
                  <a:srgbClr val="221F1F"/>
                </a:solidFill>
                <a:latin typeface="MS Gothic"/>
                <a:cs typeface="MS Gothic"/>
              </a:rPr>
              <a:t>➤</a:t>
            </a:r>
            <a:r>
              <a:rPr sz="1400" spc="-80" dirty="0">
                <a:solidFill>
                  <a:srgbClr val="221F1F"/>
                </a:solidFill>
                <a:latin typeface="MS Gothic"/>
                <a:cs typeface="MS Gothic"/>
              </a:rPr>
              <a:t> 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Offline-first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architecture</a:t>
            </a:r>
            <a:r>
              <a:rPr sz="1400" spc="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with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Wi-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Fi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hotspot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/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SD-card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sync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fallback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for</a:t>
            </a:r>
            <a:r>
              <a:rPr sz="1400" spc="-5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zero-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connectivity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schools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6473952"/>
            <a:ext cx="12189460" cy="384175"/>
          </a:xfrm>
          <a:custGeom>
            <a:avLst/>
            <a:gdLst/>
            <a:ahLst/>
            <a:cxnLst/>
            <a:rect l="l" t="t" r="r" b="b"/>
            <a:pathLst>
              <a:path w="12189460" h="384175">
                <a:moveTo>
                  <a:pt x="12188952" y="0"/>
                </a:moveTo>
                <a:lnTo>
                  <a:pt x="0" y="0"/>
                </a:lnTo>
                <a:lnTo>
                  <a:pt x="0" y="384048"/>
                </a:lnTo>
                <a:lnTo>
                  <a:pt x="12188952" y="384048"/>
                </a:lnTo>
                <a:lnTo>
                  <a:pt x="12188952" y="0"/>
                </a:lnTo>
                <a:close/>
              </a:path>
            </a:pathLst>
          </a:custGeom>
          <a:solidFill>
            <a:srgbClr val="1773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SIH26042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50" dirty="0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153" y="424687"/>
            <a:ext cx="811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221F1F"/>
                </a:solidFill>
                <a:latin typeface="Calibri"/>
                <a:cs typeface="Calibri"/>
              </a:rPr>
              <a:t>Loading…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117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IMPACT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BENEFITS</a:t>
            </a:r>
          </a:p>
        </p:txBody>
      </p:sp>
      <p:pic>
        <p:nvPicPr>
          <p:cNvPr id="4" name="object 4" descr="/home/claude/sih_ppt/image2_sma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2596" y="123987"/>
            <a:ext cx="1834697" cy="8584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4500" y="988821"/>
            <a:ext cx="97459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30" dirty="0">
                <a:solidFill>
                  <a:srgbClr val="1F3863"/>
                </a:solidFill>
                <a:latin typeface="Calibri"/>
                <a:cs typeface="Calibri"/>
              </a:rPr>
              <a:t>Target</a:t>
            </a:r>
            <a:r>
              <a:rPr sz="1400" b="1" spc="-5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Audience:</a:t>
            </a:r>
            <a:r>
              <a:rPr sz="1400" b="1" spc="22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Teachers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students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across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5,000+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tribal-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area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primary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schools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in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Jharkhand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under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PALASH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MTB-MLE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programme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1417319"/>
            <a:ext cx="3520440" cy="1051560"/>
          </a:xfrm>
          <a:prstGeom prst="rect">
            <a:avLst/>
          </a:prstGeom>
          <a:solidFill>
            <a:srgbClr val="1F4E47"/>
          </a:solidFill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sz="2600" b="1" spc="-10" dirty="0">
                <a:solidFill>
                  <a:srgbClr val="C87E1E"/>
                </a:solidFill>
                <a:latin typeface="Cambria"/>
                <a:cs typeface="Cambria"/>
              </a:rPr>
              <a:t>5,000+</a:t>
            </a:r>
            <a:endParaRPr sz="26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tribal-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area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primary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schools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reachable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4800" y="1417319"/>
            <a:ext cx="3520440" cy="1051560"/>
          </a:xfrm>
          <a:prstGeom prst="rect">
            <a:avLst/>
          </a:prstGeom>
          <a:solidFill>
            <a:srgbClr val="1F4E47"/>
          </a:solidFill>
        </p:spPr>
        <p:txBody>
          <a:bodyPr vert="horz" wrap="square" lIns="0" tIns="996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5"/>
              </a:spcBef>
            </a:pPr>
            <a:r>
              <a:rPr sz="2600" b="1" spc="-50" dirty="0">
                <a:solidFill>
                  <a:srgbClr val="C87E1E"/>
                </a:solidFill>
                <a:latin typeface="Cambria"/>
                <a:cs typeface="Cambria"/>
              </a:rPr>
              <a:t>3</a:t>
            </a:r>
            <a:endParaRPr sz="26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languages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addressed</a:t>
            </a:r>
            <a:endParaRPr sz="1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8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(Ho,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Mundari,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Santhali)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2400" y="1417319"/>
            <a:ext cx="3520440" cy="1051560"/>
          </a:xfrm>
          <a:prstGeom prst="rect">
            <a:avLst/>
          </a:prstGeom>
          <a:solidFill>
            <a:srgbClr val="1F4E47"/>
          </a:solidFill>
        </p:spPr>
        <p:txBody>
          <a:bodyPr vert="horz" wrap="square" lIns="0" tIns="9969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85"/>
              </a:spcBef>
            </a:pPr>
            <a:r>
              <a:rPr sz="2600" b="1" dirty="0">
                <a:solidFill>
                  <a:srgbClr val="C87E1E"/>
                </a:solidFill>
                <a:latin typeface="Cambria"/>
                <a:cs typeface="Cambria"/>
              </a:rPr>
              <a:t>&lt;3</a:t>
            </a:r>
            <a:r>
              <a:rPr sz="2600" b="1" spc="-20" dirty="0">
                <a:solidFill>
                  <a:srgbClr val="C87E1E"/>
                </a:solidFill>
                <a:latin typeface="Cambria"/>
                <a:cs typeface="Cambria"/>
              </a:rPr>
              <a:t> </a:t>
            </a:r>
            <a:r>
              <a:rPr sz="2600" b="1" spc="-25" dirty="0">
                <a:solidFill>
                  <a:srgbClr val="C87E1E"/>
                </a:solidFill>
                <a:latin typeface="Cambria"/>
                <a:cs typeface="Cambria"/>
              </a:rPr>
              <a:t>sec</a:t>
            </a:r>
            <a:endParaRPr sz="26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37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voice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translation</a:t>
            </a:r>
            <a:endParaRPr sz="1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85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latency,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offline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200" y="2697479"/>
            <a:ext cx="2743200" cy="374015"/>
          </a:xfrm>
          <a:prstGeom prst="rect">
            <a:avLst/>
          </a:prstGeom>
          <a:solidFill>
            <a:srgbClr val="C87E1E"/>
          </a:solidFill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Educational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200" y="3063239"/>
            <a:ext cx="2743200" cy="1417320"/>
          </a:xfrm>
          <a:custGeom>
            <a:avLst/>
            <a:gdLst/>
            <a:ahLst/>
            <a:cxnLst/>
            <a:rect l="l" t="t" r="r" b="b"/>
            <a:pathLst>
              <a:path w="2743200" h="1417320">
                <a:moveTo>
                  <a:pt x="0" y="1417319"/>
                </a:moveTo>
                <a:lnTo>
                  <a:pt x="2743200" y="1417319"/>
                </a:lnTo>
                <a:lnTo>
                  <a:pt x="2743200" y="0"/>
                </a:lnTo>
                <a:lnTo>
                  <a:pt x="0" y="0"/>
                </a:lnTo>
                <a:lnTo>
                  <a:pt x="0" y="1417319"/>
                </a:lnTo>
                <a:close/>
              </a:path>
            </a:pathLst>
          </a:custGeom>
          <a:ln w="15875">
            <a:solidFill>
              <a:srgbClr val="C87E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5137" y="3120339"/>
            <a:ext cx="2727325" cy="96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marR="117475">
              <a:lnSpc>
                <a:spcPct val="110000"/>
              </a:lnSpc>
              <a:spcBef>
                <a:spcPts val="100"/>
              </a:spcBef>
            </a:pP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Enables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genuine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mother-tongue instruction;</a:t>
            </a:r>
            <a:r>
              <a:rPr sz="1400" spc="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improves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foundational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literacy</a:t>
            </a:r>
            <a:r>
              <a:rPr sz="1400" spc="-5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numeracy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outcomes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aligned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to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NIPUN</a:t>
            </a:r>
            <a:r>
              <a:rPr sz="1400" spc="-7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Bharat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targets.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9271" y="2697479"/>
            <a:ext cx="2743200" cy="374015"/>
          </a:xfrm>
          <a:prstGeom prst="rect">
            <a:avLst/>
          </a:prstGeom>
          <a:solidFill>
            <a:srgbClr val="2D7C31"/>
          </a:solidFill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Social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19271" y="3063239"/>
            <a:ext cx="2743200" cy="1417320"/>
          </a:xfrm>
          <a:custGeom>
            <a:avLst/>
            <a:gdLst/>
            <a:ahLst/>
            <a:cxnLst/>
            <a:rect l="l" t="t" r="r" b="b"/>
            <a:pathLst>
              <a:path w="2743200" h="1417320">
                <a:moveTo>
                  <a:pt x="0" y="1417319"/>
                </a:moveTo>
                <a:lnTo>
                  <a:pt x="2743200" y="1417319"/>
                </a:lnTo>
                <a:lnTo>
                  <a:pt x="2743200" y="0"/>
                </a:lnTo>
                <a:lnTo>
                  <a:pt x="0" y="0"/>
                </a:lnTo>
                <a:lnTo>
                  <a:pt x="0" y="1417319"/>
                </a:lnTo>
                <a:close/>
              </a:path>
            </a:pathLst>
          </a:custGeom>
          <a:ln w="15875">
            <a:solidFill>
              <a:srgbClr val="2D7C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27209" y="3120339"/>
            <a:ext cx="2727325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marR="273050">
              <a:lnSpc>
                <a:spcPct val="110000"/>
              </a:lnSpc>
              <a:spcBef>
                <a:spcPts val="100"/>
              </a:spcBef>
            </a:pP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Removes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teacher-language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bottleneck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blocking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MTB-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MLE</a:t>
            </a:r>
            <a:r>
              <a:rPr sz="1400" spc="-6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at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scale;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children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learn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in</a:t>
            </a:r>
            <a:r>
              <a:rPr sz="1400" spc="-5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the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language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they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understand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at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home.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1344" y="2697479"/>
            <a:ext cx="2743200" cy="374015"/>
          </a:xfrm>
          <a:prstGeom prst="rect">
            <a:avLst/>
          </a:prstGeom>
          <a:solidFill>
            <a:srgbClr val="1564A8"/>
          </a:solidFill>
        </p:spPr>
        <p:txBody>
          <a:bodyPr vert="horz" wrap="square" lIns="0" tIns="64769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509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Economic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81344" y="3063239"/>
            <a:ext cx="2743200" cy="1417320"/>
          </a:xfrm>
          <a:custGeom>
            <a:avLst/>
            <a:gdLst/>
            <a:ahLst/>
            <a:cxnLst/>
            <a:rect l="l" t="t" r="r" b="b"/>
            <a:pathLst>
              <a:path w="2743200" h="1417320">
                <a:moveTo>
                  <a:pt x="0" y="1417319"/>
                </a:moveTo>
                <a:lnTo>
                  <a:pt x="2743200" y="1417319"/>
                </a:lnTo>
                <a:lnTo>
                  <a:pt x="2743200" y="0"/>
                </a:lnTo>
                <a:lnTo>
                  <a:pt x="0" y="0"/>
                </a:lnTo>
                <a:lnTo>
                  <a:pt x="0" y="1417319"/>
                </a:lnTo>
                <a:close/>
              </a:path>
            </a:pathLst>
          </a:custGeom>
          <a:ln w="15875">
            <a:solidFill>
              <a:srgbClr val="1564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89281" y="3120339"/>
            <a:ext cx="2727325" cy="96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 marR="260985">
              <a:lnSpc>
                <a:spcPct val="110000"/>
              </a:lnSpc>
              <a:spcBef>
                <a:spcPts val="100"/>
              </a:spcBef>
            </a:pP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Cuts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cost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time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of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recruiting/training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native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tribal-language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teachers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technology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bridges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gap.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43416" y="2697479"/>
            <a:ext cx="2743200" cy="374015"/>
          </a:xfrm>
          <a:prstGeom prst="rect">
            <a:avLst/>
          </a:prstGeom>
          <a:solidFill>
            <a:srgbClr val="5E35B0"/>
          </a:solidFill>
        </p:spPr>
        <p:txBody>
          <a:bodyPr vert="horz" wrap="square" lIns="0" tIns="64769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509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Scalability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043416" y="3063239"/>
            <a:ext cx="2743200" cy="1417320"/>
          </a:xfrm>
          <a:custGeom>
            <a:avLst/>
            <a:gdLst/>
            <a:ahLst/>
            <a:cxnLst/>
            <a:rect l="l" t="t" r="r" b="b"/>
            <a:pathLst>
              <a:path w="2743200" h="1417320">
                <a:moveTo>
                  <a:pt x="0" y="1417319"/>
                </a:moveTo>
                <a:lnTo>
                  <a:pt x="2743200" y="1417319"/>
                </a:lnTo>
                <a:lnTo>
                  <a:pt x="2743200" y="0"/>
                </a:lnTo>
                <a:lnTo>
                  <a:pt x="0" y="0"/>
                </a:lnTo>
                <a:lnTo>
                  <a:pt x="0" y="1417319"/>
                </a:lnTo>
                <a:close/>
              </a:path>
            </a:pathLst>
          </a:custGeom>
          <a:ln w="15875">
            <a:solidFill>
              <a:srgbClr val="5E35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051353" y="3120339"/>
            <a:ext cx="2727325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870" marR="296545">
              <a:lnSpc>
                <a:spcPct val="110000"/>
              </a:lnSpc>
              <a:spcBef>
                <a:spcPts val="100"/>
              </a:spcBef>
            </a:pP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Retrieval-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based</a:t>
            </a:r>
            <a:r>
              <a:rPr sz="1400" spc="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framework 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is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language-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agnostic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in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design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—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extensible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 to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other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underserved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mother</a:t>
            </a:r>
            <a:r>
              <a:rPr sz="1400" spc="-6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tongues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beyond Jharkhand.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7200" y="4709159"/>
            <a:ext cx="11247120" cy="311150"/>
          </a:xfrm>
          <a:prstGeom prst="rect">
            <a:avLst/>
          </a:prstGeom>
          <a:solidFill>
            <a:srgbClr val="1F3863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POLICY</a:t>
            </a:r>
            <a:r>
              <a:rPr sz="1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ALIGNMENT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5940" y="5065623"/>
            <a:ext cx="11043285" cy="51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Directly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supports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NIPUN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Bharat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Mission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NEP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2020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mandate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for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mother-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tongue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/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home-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language-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based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foundational education,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strengthens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state's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MTB-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MLE</a:t>
            </a:r>
            <a:r>
              <a:rPr sz="1400" spc="-5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(PALASH)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rollout</a:t>
            </a:r>
            <a:r>
              <a:rPr sz="1400" spc="-5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at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scale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without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requiring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large-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scale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hiring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sz="1400" spc="-6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tribal-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language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teachers.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6473952"/>
            <a:ext cx="12189460" cy="384175"/>
          </a:xfrm>
          <a:custGeom>
            <a:avLst/>
            <a:gdLst/>
            <a:ahLst/>
            <a:cxnLst/>
            <a:rect l="l" t="t" r="r" b="b"/>
            <a:pathLst>
              <a:path w="12189460" h="384175">
                <a:moveTo>
                  <a:pt x="12188952" y="0"/>
                </a:moveTo>
                <a:lnTo>
                  <a:pt x="0" y="0"/>
                </a:lnTo>
                <a:lnTo>
                  <a:pt x="0" y="384048"/>
                </a:lnTo>
                <a:lnTo>
                  <a:pt x="12188952" y="384048"/>
                </a:lnTo>
                <a:lnTo>
                  <a:pt x="12188952" y="0"/>
                </a:lnTo>
                <a:close/>
              </a:path>
            </a:pathLst>
          </a:custGeom>
          <a:solidFill>
            <a:srgbClr val="1773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SIH26042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1882373" y="6592316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153" y="424687"/>
            <a:ext cx="811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221F1F"/>
                </a:solidFill>
                <a:latin typeface="Calibri"/>
                <a:cs typeface="Calibri"/>
              </a:rPr>
              <a:t>Loading…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-7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REFERENCES</a:t>
            </a:r>
          </a:p>
        </p:txBody>
      </p:sp>
      <p:pic>
        <p:nvPicPr>
          <p:cNvPr id="4" name="object 4" descr="/home/claude/sih_ppt/image2_sma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2596" y="123987"/>
            <a:ext cx="1834697" cy="8584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4500" y="925423"/>
            <a:ext cx="11026775" cy="3552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10000"/>
              </a:lnSpc>
              <a:spcBef>
                <a:spcPts val="100"/>
              </a:spcBef>
              <a:buFont typeface="Calibri"/>
              <a:buChar char="•"/>
              <a:tabLst>
                <a:tab pos="355600" algn="l"/>
              </a:tabLst>
            </a:pPr>
            <a:r>
              <a:rPr sz="1400" b="1" spc="-10" dirty="0">
                <a:solidFill>
                  <a:srgbClr val="1F3863"/>
                </a:solidFill>
                <a:latin typeface="Calibri"/>
                <a:cs typeface="Calibri"/>
              </a:rPr>
              <a:t>PALASH</a:t>
            </a:r>
            <a:r>
              <a:rPr sz="1400" b="1" spc="-3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F3863"/>
                </a:solidFill>
                <a:latin typeface="Calibri"/>
                <a:cs typeface="Calibri"/>
              </a:rPr>
              <a:t>Programme</a:t>
            </a:r>
            <a:r>
              <a:rPr sz="1400" b="1" spc="-5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–</a:t>
            </a:r>
            <a:r>
              <a:rPr sz="1400" b="1" spc="-2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Dept.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School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Education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Literacy,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Govt.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Jharkhand</a:t>
            </a:r>
            <a:r>
              <a:rPr sz="1400" spc="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MTB-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MLE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case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study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featured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in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UNESCO's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State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Education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Report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for</a:t>
            </a:r>
            <a:r>
              <a:rPr sz="1400" spc="-6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India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2025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55"/>
              </a:spcBef>
              <a:buFont typeface="Calibri"/>
              <a:buChar char="•"/>
              <a:tabLst>
                <a:tab pos="354965" algn="l"/>
              </a:tabLst>
            </a:pP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NIPUN</a:t>
            </a:r>
            <a:r>
              <a:rPr sz="1400" b="1" spc="-1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F3863"/>
                </a:solidFill>
                <a:latin typeface="Calibri"/>
                <a:cs typeface="Calibri"/>
              </a:rPr>
              <a:t>Bharat</a:t>
            </a:r>
            <a:r>
              <a:rPr sz="1400" b="1" spc="-5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Mission</a:t>
            </a:r>
            <a:r>
              <a:rPr sz="1400" b="1" spc="-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–</a:t>
            </a:r>
            <a:r>
              <a:rPr sz="1400" b="1" spc="-3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Ministry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Education,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Govt.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India</a:t>
            </a:r>
            <a:r>
              <a:rPr sz="1400" spc="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Foundational Literacy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&amp;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Numeracy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(FLN)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guidelines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1F3863"/>
              </a:buClr>
              <a:buFont typeface="Calibri"/>
              <a:buChar char="•"/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1F3863"/>
              </a:buClr>
              <a:buFont typeface="Calibri"/>
              <a:buChar char="•"/>
            </a:pP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354965" algn="l"/>
              </a:tabLst>
            </a:pPr>
            <a:r>
              <a:rPr sz="1400" b="1" spc="-10" dirty="0">
                <a:solidFill>
                  <a:srgbClr val="1F3863"/>
                </a:solidFill>
                <a:latin typeface="Calibri"/>
                <a:cs typeface="Calibri"/>
              </a:rPr>
              <a:t>AI4Bharat</a:t>
            </a:r>
            <a:r>
              <a:rPr sz="1400" b="1" spc="-4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–</a:t>
            </a:r>
            <a:r>
              <a:rPr sz="1400" b="1" spc="-3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IndicTrans2,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IndicWav2Vec,</a:t>
            </a:r>
            <a:r>
              <a:rPr sz="1400" spc="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Vakyansh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TTS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open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Indic-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language</a:t>
            </a:r>
            <a:r>
              <a:rPr sz="1400" spc="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NLP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models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sz="1400" spc="-4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ai4bharat.iitm.ac.in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1F3863"/>
              </a:buClr>
              <a:buFont typeface="Calibri"/>
              <a:buChar char="•"/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1F3863"/>
              </a:buClr>
              <a:buFont typeface="Calibri"/>
              <a:buChar char="•"/>
            </a:pP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Calibri"/>
              <a:buChar char="•"/>
              <a:tabLst>
                <a:tab pos="354965" algn="l"/>
              </a:tabLst>
            </a:pP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Digital</a:t>
            </a:r>
            <a:r>
              <a:rPr sz="1400" b="1" spc="-4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India</a:t>
            </a:r>
            <a:r>
              <a:rPr sz="1400" b="1" spc="-3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Bhashini</a:t>
            </a:r>
            <a:r>
              <a:rPr sz="1400" b="1" spc="-5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Mission</a:t>
            </a:r>
            <a:r>
              <a:rPr sz="1400" b="1" spc="-2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–</a:t>
            </a:r>
            <a:r>
              <a:rPr sz="1400" b="1" spc="-2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National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multilingual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AI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translation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platform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bhashini.gov.in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25"/>
              </a:spcBef>
              <a:buClr>
                <a:srgbClr val="1F3863"/>
              </a:buClr>
              <a:buFont typeface="Calibri"/>
              <a:buChar char="•"/>
            </a:pPr>
            <a:endParaRPr sz="1400">
              <a:latin typeface="Calibri"/>
              <a:cs typeface="Calibri"/>
            </a:endParaRPr>
          </a:p>
          <a:p>
            <a:pPr marL="355600" marR="130810" indent="-342900">
              <a:lnSpc>
                <a:spcPct val="110000"/>
              </a:lnSpc>
              <a:spcBef>
                <a:spcPts val="5"/>
              </a:spcBef>
              <a:buFont typeface="Calibri"/>
              <a:buChar char="•"/>
              <a:tabLst>
                <a:tab pos="355600" algn="l"/>
              </a:tabLst>
            </a:pP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Adi</a:t>
            </a:r>
            <a:r>
              <a:rPr sz="1400" b="1" spc="-3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1F3863"/>
                </a:solidFill>
                <a:latin typeface="Calibri"/>
                <a:cs typeface="Calibri"/>
              </a:rPr>
              <a:t>Vaani</a:t>
            </a:r>
            <a:r>
              <a:rPr sz="1400" b="1" spc="-5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–</a:t>
            </a:r>
            <a:r>
              <a:rPr sz="1400" b="1" spc="-2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Ministry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of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Tribal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Affairs'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AI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tribal-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language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translator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(IIT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Delhi-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led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consortium)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—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reference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point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for</a:t>
            </a:r>
            <a:r>
              <a:rPr sz="1400" spc="-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differentiation:</a:t>
            </a:r>
            <a:r>
              <a:rPr sz="14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21F1F"/>
                </a:solidFill>
                <a:latin typeface="Calibri"/>
                <a:cs typeface="Calibri"/>
              </a:rPr>
              <a:t>general-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purpose translation</a:t>
            </a:r>
            <a:r>
              <a:rPr sz="1400" spc="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vs. our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classroom-embedded,</a:t>
            </a:r>
            <a:r>
              <a:rPr sz="1400" spc="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curriculum-synced</a:t>
            </a:r>
            <a:r>
              <a:rPr sz="1400" spc="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approach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55"/>
              </a:spcBef>
              <a:buFont typeface="Calibri"/>
              <a:buChar char="•"/>
              <a:tabLst>
                <a:tab pos="354965" algn="l"/>
              </a:tabLst>
            </a:pP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NCERT</a:t>
            </a:r>
            <a:r>
              <a:rPr sz="1400" b="1" spc="-2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1F3863"/>
                </a:solidFill>
                <a:latin typeface="Calibri"/>
                <a:cs typeface="Calibri"/>
              </a:rPr>
              <a:t>–</a:t>
            </a:r>
            <a:r>
              <a:rPr sz="1400" b="1" spc="-1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Foundational</a:t>
            </a:r>
            <a:r>
              <a:rPr sz="1400" spc="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Literacy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and</a:t>
            </a:r>
            <a:r>
              <a:rPr sz="1400" spc="-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Numeracy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(FLN)</a:t>
            </a:r>
            <a:r>
              <a:rPr sz="14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curriculum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 framework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473952"/>
            <a:ext cx="12189460" cy="384175"/>
          </a:xfrm>
          <a:custGeom>
            <a:avLst/>
            <a:gdLst/>
            <a:ahLst/>
            <a:cxnLst/>
            <a:rect l="l" t="t" r="r" b="b"/>
            <a:pathLst>
              <a:path w="12189460" h="384175">
                <a:moveTo>
                  <a:pt x="12188952" y="0"/>
                </a:moveTo>
                <a:lnTo>
                  <a:pt x="0" y="0"/>
                </a:lnTo>
                <a:lnTo>
                  <a:pt x="0" y="384048"/>
                </a:lnTo>
                <a:lnTo>
                  <a:pt x="12188952" y="384048"/>
                </a:lnTo>
                <a:lnTo>
                  <a:pt x="12188952" y="0"/>
                </a:lnTo>
                <a:close/>
              </a:path>
            </a:pathLst>
          </a:custGeom>
          <a:solidFill>
            <a:srgbClr val="1773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@SIH</a:t>
            </a:r>
            <a:r>
              <a:rPr spc="10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15" dirty="0"/>
              <a:t> </a:t>
            </a:r>
            <a:r>
              <a:rPr spc="-10" dirty="0"/>
              <a:t>SIH26042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82373" y="6592316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876</Words>
  <Application>Microsoft Office PowerPoint</Application>
  <PresentationFormat>Custom</PresentationFormat>
  <Paragraphs>127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this</cp:lastModifiedBy>
  <cp:revision>1</cp:revision>
  <dcterms:created xsi:type="dcterms:W3CDTF">2026-09-01T05:40:26Z</dcterms:created>
  <dcterms:modified xsi:type="dcterms:W3CDTF">2026-09-02T14:35:51Z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2026-09-01T00:00:00Z</vt:filetime>
  </property>
  <property fmtid="{D5CDD505-2E9C-101B-9397-08002B2CF9AE}" pid="4" name="Creator">
    <vt:lpwstr>Microsoft® PowerPoint® 2010</vt:lpwstr>
  </property>
  <property fmtid="{D5CDD505-2E9C-101B-9397-08002B2CF9AE}" pid="5" name="LastSaved">
    <vt:filetime>2026-09-01T00:00:00Z</vt:filetime>
  </property>
  <property fmtid="{D5CDD505-2E9C-101B-9397-08002B2CF9AE}" pid="6" name="Producer">
    <vt:lpwstr>Microsoft® PowerPoint® 2010</vt:lpwstr>
  </property>
</Properties>
</file>